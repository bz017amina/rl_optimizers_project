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Introduction : présentation du projet, du contexte académique et de l'équipe. Objectif : étudier l'impact du choix de l'optimiseur sur l'entraînement d'un agent DQN sur CartPole-v1.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Rappel express avant d'entrer dans le vif du sujet : un agent observe un état, choisit une action, reçoit une récompense et un nouvel état, et recommence — c'est cette boucle que le DQN doit apprendre à optimiser. CartPole est un choix standard car simple, rapide à entraîner, et permet d'isoler l'effet de l'optimiseur.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Contrairement à l'apprentissage supervisé, en RL les données changent en permanence. Le DQN combine cette non-stationnarité avec le problème de la cible mobile : le réseau apprend à partir de valeurs qu'il génère lui-même. Cela rend le choix de l'optimiseur crucial.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axes d'analyse guident la comparaison : vitesse, stabilité, convergence, variance, sensibilité aux seeds, et coût de calcul. Ces axes structurent directement la section Résultats.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volontairement simple (2 couches de 128 neurones) pour isoler l'effet de l'optimiseur. Replay buffer et target network garantissent la stabilité standard du DQN. Seul l'optimiseur change entre les 5 conditions.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 schéma illustre le cycle complet : l'état passe dans le réseau, qui produit des Q-valeurs ; une action est choisie (ε-greedy) ; la transition est stockée dans le replay buffer ; un mini-lot est échantillonné pour calculer la perte de Bellman ; la rétropropagation via l'optimiseur met à jour les poids du réseau — et le cycle recommence. C'est précisément cette dernière étape (l'optimiseur) que nous faisons varier.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Chaque optimiseur répond à une limite du précédent : SGD est la base, Momentum lisse le bruit, RMSprop adapte le pas par paramètre pour des cibles changeantes, Adam combine les deux, et AdamW découple la régularisation. Important : AdamW est utilisé ici avec le weight_decay par défaut de PyTorch (0.01), pas avec weight_decay=0 — ce point sera repris dans la discussion.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protocole se déroule en deux temps : d'abord une comparaison à seed unique pour une première lecture, puis une évaluation sur 3 seeds pour vérifier la robustesse statistique des conclusions. Au total 15 runs sur Kaggle avec GPU.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courbe de récompense montre une tendance haussière commune, mais SGD et SGD+Momentum atteignent les pics les plus hauts alors que les méthodes adaptatives restent plus contenues — un premier indice du compromis performance/stabilité.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Contrairement à l'apprentissage supervisé, la perte ne décroît pas monotonement : c'est attendu car la cible de Bellman change avec la politique. SGD est le plus perturbé, cohérent avec l'absence de mémoire de gradient.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temps d'entraînement varie surtout avec la longueur des épisodes générés, pas avec le coût de la règle de mise à jour elle-même. La mémoire GPU est quasi identique entre optimiseurs vu la petite taille du réseau.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 graphique révèle l'enjeu central du projet : une comparaison basée sur un seul run aurait favorisé SGD, mais sur 3 seeds sa variance élevée nuance fortement cet avantage apparent.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Aucun optimiseur ne domine sur tous les critères. Ce tableau résume les compromis qui seront détaillés dans les slides suivantes sur les forces et faiblesses de chacun.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Chaque optimiseur incarne un compromis différent : SGD brille en pic mais varie beaucoup, SGD+Momentum tient mieux la distance, RMSprop offre un bon équilibre, Adam présente la variance la plus faible dans ce protocole mais plafonne tôt. Point important : AdamW est utilisé ici avec le weight_decay par défaut de PyTorch (0.01, pas 0), et ne montre pourtant pas d'avantage net mesurable face à Adam — à mentionner si le jury pose la question du weight decay.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 quadrant résume visuellement le compromis central du projet : SGD est performant mais instable dans ce protocole (en haut à droite), Adam présente la variance la plus faible mais une performance moyenne plus faible (en bas à gauche). Aucun optimiseur ne cumule les deux avantages ici.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synthèse : SGD+Momentum pour la performance si on peut multiplier les runs, Adam/AdamW pour la prévisibilité si les ressources sont limitées. Le message clé : la variance inter-seed compte autant que l'optimiseur choisi — et ces conclusions restent valables pour ce protocole précis, pas comme vérité générale sur les optimiseurs.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Ces limites nuancent la portée des conclusions : elles sont valables pour ce protocole précis. Les perspectives ouvrent sur des extensions naturelles du travail : plus de seeds, réglage fin par optimiseur, environnements plus riches.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Conclure en invitant aux questions, rappeler la disponibilité du code et du notebook reproductible.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262C52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840480" cy="3840480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4" name="Image 0" descr="/home/claude/rl_deck/images/p1_i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777240" cy="777240"/>
          </a:xfrm>
          <a:prstGeom prst="rect">
            <a:avLst/>
          </a:prstGeom>
        </p:spPr>
      </p:pic>
      <p:pic>
        <p:nvPicPr>
          <p:cNvPr id="5" name="Image 1" descr="/home/claude/rl_deck/images/p1_i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530352"/>
            <a:ext cx="1691640" cy="65836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40080" y="150876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spc="150" kern="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UNIVERSITÉ HASSAN II DE CASABLANCA — FACULTÉ DES SCIENCES BEN M'SICK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640080" y="181051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Intelligence Artificielle (DSBD &amp; IA)  •  Module Algorithmes d'Optimisation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40080" y="251460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Optimisation des agents de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Reinforcement Learning</a:t>
            </a:r>
            <a:endParaRPr lang="en-US" sz="4000" dirty="0"/>
          </a:p>
        </p:txBody>
      </p:sp>
      <p:sp>
        <p:nvSpPr>
          <p:cNvPr id="9" name="Text 5"/>
          <p:cNvSpPr/>
          <p:nvPr/>
        </p:nvSpPr>
        <p:spPr>
          <a:xfrm>
            <a:off x="640080" y="41605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des algorithmes d'optimisation sur l'entraînement d'un agent DQN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40080" y="4892040"/>
            <a:ext cx="5120640" cy="1234440"/>
          </a:xfrm>
          <a:prstGeom prst="rect">
            <a:avLst>
              <a:gd name="adj" fmla="val 5926"/>
            </a:avLst>
          </a:prstGeom>
          <a:solidFill>
            <a:srgbClr val="262C52"/>
          </a:solidFill>
          <a:ln/>
        </p:spPr>
      </p:sp>
      <p:sp>
        <p:nvSpPr>
          <p:cNvPr id="11" name="Text 7"/>
          <p:cNvSpPr/>
          <p:nvPr/>
        </p:nvSpPr>
        <p:spPr>
          <a:xfrm>
            <a:off x="868680" y="502920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Préparé par 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Hafsa Elhilali, Jihed El Betti, Amina Bouazza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Encadré par 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Pr. Faouzia Benabbou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8622792" y="617220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universitaire 2025 –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RAPPEL SUR LE REINFORCEMENT LEARNING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un agent apprend par interaction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148840" y="1691640"/>
            <a:ext cx="3200400" cy="713232"/>
          </a:xfrm>
          <a:prstGeom prst="rect">
            <a:avLst>
              <a:gd name="adj" fmla="val 10256"/>
            </a:avLst>
          </a:prstGeom>
          <a:solidFill>
            <a:srgbClr val="EEF1FA"/>
          </a:solidFill>
          <a:ln/>
          <a:effectLst>
            <a:outerShdw sx="100000" sy="100000" kx="0" ky="0" algn="bl" rotWithShape="0" blurRad="127000" dist="38100" dir="5400000">
              <a:srgbClr val="1B1F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76856" y="1810512"/>
            <a:ext cx="475488" cy="475488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0973" y="1924629"/>
            <a:ext cx="247254" cy="2472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880360" y="176479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2880360" y="20756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décide d'une action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749040" y="2404872"/>
            <a:ext cx="0" cy="128016"/>
          </a:xfrm>
          <a:prstGeom prst="line">
            <a:avLst/>
          </a:prstGeom>
          <a:noFill/>
          <a:ln w="22225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148840" y="2532888"/>
            <a:ext cx="3200400" cy="713232"/>
          </a:xfrm>
          <a:prstGeom prst="rect">
            <a:avLst>
              <a:gd name="adj" fmla="val 10256"/>
            </a:avLst>
          </a:prstGeom>
          <a:solidFill>
            <a:srgbClr val="EEF1FA"/>
          </a:solidFill>
          <a:ln/>
          <a:effectLst>
            <a:outerShdw sx="100000" sy="100000" kx="0" ky="0" algn="bl" rotWithShape="0" blurRad="127000" dist="38100" dir="5400000">
              <a:srgbClr val="1B1F3B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276856" y="2651760"/>
            <a:ext cx="475488" cy="475488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973" y="2765877"/>
            <a:ext cx="247254" cy="24725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80360" y="2606040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2880360" y="291693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reçoit l'action, évolue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749040" y="3246120"/>
            <a:ext cx="0" cy="128016"/>
          </a:xfrm>
          <a:prstGeom prst="line">
            <a:avLst/>
          </a:prstGeom>
          <a:noFill/>
          <a:ln w="22225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2148840" y="3374136"/>
            <a:ext cx="3200400" cy="713232"/>
          </a:xfrm>
          <a:prstGeom prst="rect">
            <a:avLst>
              <a:gd name="adj" fmla="val 10256"/>
            </a:avLst>
          </a:prstGeom>
          <a:solidFill>
            <a:srgbClr val="EEF1FA"/>
          </a:solidFill>
          <a:ln/>
          <a:effectLst>
            <a:outerShdw sx="100000" sy="100000" kx="0" ky="0" algn="bl" rotWithShape="0" blurRad="127000" dist="38100" dir="5400000">
              <a:srgbClr val="1B1F3B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276856" y="3493008"/>
            <a:ext cx="475488" cy="475488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0973" y="3607125"/>
            <a:ext cx="247254" cy="24725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880360" y="344728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</a:t>
            </a:r>
            <a:endParaRPr lang="en-US" sz="1350" dirty="0"/>
          </a:p>
        </p:txBody>
      </p:sp>
      <p:sp>
        <p:nvSpPr>
          <p:cNvPr id="20" name="Text 15"/>
          <p:cNvSpPr/>
          <p:nvPr/>
        </p:nvSpPr>
        <p:spPr>
          <a:xfrm>
            <a:off x="2880360" y="37581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nouvelle observation (s')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3749040" y="4087368"/>
            <a:ext cx="0" cy="128016"/>
          </a:xfrm>
          <a:prstGeom prst="line">
            <a:avLst/>
          </a:prstGeom>
          <a:noFill/>
          <a:ln w="22225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2148840" y="4215384"/>
            <a:ext cx="3200400" cy="713232"/>
          </a:xfrm>
          <a:prstGeom prst="rect">
            <a:avLst>
              <a:gd name="adj" fmla="val 10256"/>
            </a:avLst>
          </a:prstGeom>
          <a:solidFill>
            <a:srgbClr val="EEF1FA"/>
          </a:solidFill>
          <a:ln/>
          <a:effectLst>
            <a:outerShdw sx="100000" sy="100000" kx="0" ky="0" algn="bl" rotWithShape="0" blurRad="127000" dist="38100" dir="5400000">
              <a:srgbClr val="1B1F3B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2276856" y="4334256"/>
            <a:ext cx="475488" cy="475488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0973" y="4448373"/>
            <a:ext cx="247254" cy="24725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2880360" y="4288536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Récompense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2880360" y="45994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de retour (r)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5349240" y="2048256"/>
            <a:ext cx="320040" cy="0"/>
          </a:xfrm>
          <a:prstGeom prst="line">
            <a:avLst/>
          </a:prstGeom>
          <a:noFill/>
          <a:ln w="22225">
            <a:solidFill>
              <a:srgbClr val="E8923C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5669280" y="2048256"/>
            <a:ext cx="0" cy="2523744"/>
          </a:xfrm>
          <a:prstGeom prst="line">
            <a:avLst/>
          </a:prstGeom>
          <a:noFill/>
          <a:ln w="22225">
            <a:solidFill>
              <a:srgbClr val="E8923C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5349240" y="4572000"/>
            <a:ext cx="320040" cy="0"/>
          </a:xfrm>
          <a:prstGeom prst="line">
            <a:avLst/>
          </a:prstGeom>
          <a:noFill/>
          <a:ln w="22225">
            <a:solidFill>
              <a:srgbClr val="E8923C"/>
            </a:solidFill>
            <a:prstDash val="solid"/>
            <a:tailEnd type="triangle"/>
          </a:ln>
        </p:spPr>
      </p:sp>
      <p:sp>
        <p:nvSpPr>
          <p:cNvPr id="30" name="Text 24"/>
          <p:cNvSpPr/>
          <p:nvPr/>
        </p:nvSpPr>
        <p:spPr>
          <a:xfrm>
            <a:off x="5742432" y="2990088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à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E8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pas de temps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7360920" y="1691640"/>
            <a:ext cx="4187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notions clés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7360920" y="2057400"/>
            <a:ext cx="4187952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l'algorithme qui choisit les actions (ici, le réseau DQN).</a:t>
            </a:r>
            <a:pPr indent="0" marL="0">
              <a:lnSpc>
                <a:spcPct val="120000"/>
              </a:lnSpc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l'observation à l'instant t (ici : position, vitesse, angle, vitesse angulaire).</a:t>
            </a:r>
            <a:pPr indent="0" marL="0">
              <a:lnSpc>
                <a:spcPct val="120000"/>
              </a:lnSpc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choix effectué par l'agent (ici : pousser à gauche ou à droite).</a:t>
            </a:r>
            <a:pPr indent="0" marL="0">
              <a:lnSpc>
                <a:spcPct val="120000"/>
              </a:lnSpc>
              <a:buNone/>
            </a:pPr>
            <a:r>
              <a:rPr lang="en-US" sz="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Récompense :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signal reçu après une action (+1 tant que la barre reste en équilibre).</a:t>
            </a:r>
            <a:endParaRPr lang="en-US" sz="1100" dirty="0"/>
          </a:p>
        </p:txBody>
      </p:sp>
      <p:sp>
        <p:nvSpPr>
          <p:cNvPr id="33" name="Shape 27"/>
          <p:cNvSpPr/>
          <p:nvPr/>
        </p:nvSpPr>
        <p:spPr>
          <a:xfrm>
            <a:off x="7360920" y="4617720"/>
            <a:ext cx="4187952" cy="1371600"/>
          </a:xfrm>
          <a:prstGeom prst="rect">
            <a:avLst>
              <a:gd name="adj" fmla="val 5333"/>
            </a:avLst>
          </a:prstGeom>
          <a:solidFill>
            <a:srgbClr val="1B1F3B"/>
          </a:solidFill>
          <a:ln/>
        </p:spPr>
      </p:sp>
      <p:sp>
        <p:nvSpPr>
          <p:cNvPr id="34" name="Text 28"/>
          <p:cNvSpPr/>
          <p:nvPr/>
        </p:nvSpPr>
        <p:spPr>
          <a:xfrm>
            <a:off x="7589520" y="4617720"/>
            <a:ext cx="37307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E8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CartPole ?  </a:t>
            </a:r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6D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benchmark simple et standard : états continus, actions discrètes, dynamique rapide à apprendre — idéal pour isoler l'effet de l'optimiseur sans que la complexité de la tâche interfère.</a:t>
            </a:r>
            <a:endParaRPr lang="en-US" sz="1050" dirty="0"/>
          </a:p>
        </p:txBody>
      </p:sp>
      <p:sp>
        <p:nvSpPr>
          <p:cNvPr id="35" name="Text 29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CONTEXTE &amp; PROBLÉMATIQUE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l'optimisation est-elle un défi en RL 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246120" cy="2880360"/>
          </a:xfrm>
          <a:prstGeom prst="rect">
            <a:avLst>
              <a:gd name="adj" fmla="val 2857"/>
            </a:avLst>
          </a:prstGeom>
          <a:solidFill>
            <a:srgbClr val="EEF1FA"/>
          </a:solidFill>
          <a:ln/>
          <a:effectLst>
            <a:outerShdw sx="100000" sy="100000" kx="0" ky="0" algn="bl" rotWithShape="0" blurRad="127000" dist="38100" dir="5400000">
              <a:srgbClr val="1B1F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86000"/>
            <a:ext cx="685800" cy="685800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" y="2450592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15468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non stationnaires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14400" y="384048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L'agent génère lui-même ses données : la distribution des états change à mesure que sa politique évolue.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06240" y="1965960"/>
            <a:ext cx="3246120" cy="2880360"/>
          </a:xfrm>
          <a:prstGeom prst="rect">
            <a:avLst>
              <a:gd name="adj" fmla="val 2857"/>
            </a:avLst>
          </a:prstGeom>
          <a:solidFill>
            <a:srgbClr val="EEF1FA"/>
          </a:solidFill>
          <a:ln/>
          <a:effectLst>
            <a:outerShdw sx="100000" sy="100000" kx="0" ky="0" algn="bl" rotWithShape="0" blurRad="127000" dist="38100" dir="5400000">
              <a:srgbClr val="1B1F3B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2286000"/>
            <a:ext cx="685800" cy="685800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245059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0560" y="315468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de la cible mobile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480560" y="384048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le DQN, les valeurs cibles utilisées pour la perte proviennent du réseau en cours d'apprentissage.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772400" y="1965960"/>
            <a:ext cx="3246120" cy="2880360"/>
          </a:xfrm>
          <a:prstGeom prst="rect">
            <a:avLst>
              <a:gd name="adj" fmla="val 2857"/>
            </a:avLst>
          </a:prstGeom>
          <a:solidFill>
            <a:srgbClr val="EEF1FA"/>
          </a:solidFill>
          <a:ln/>
          <a:effectLst>
            <a:outerShdw sx="100000" sy="100000" kx="0" ky="0" algn="bl" rotWithShape="0" blurRad="127000" dist="38100" dir="5400000">
              <a:srgbClr val="1B1F3B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92440" y="2286000"/>
            <a:ext cx="685800" cy="685800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032" y="245059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46720" y="315468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Instabilité amplifiée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046720" y="3840480"/>
            <a:ext cx="2697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petites variations de gradient peuvent provoquer d'importantes oscillations dans la politique apprise.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40080" y="516636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Conséquence : </a:t>
            </a:r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choix de l'optimiseur devient une décision de conception centrale, et non un simple détail d'implémentation.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CONTEXTE &amp; PROBLÉMATIQUE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de l'étude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08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5 optimiseurs — SGD, SGD+Momentum, RMSprop, Adam, AdamW — sous un pipeline DQN strictement identique, en analysant 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29000" cy="1691640"/>
          </a:xfrm>
          <a:prstGeom prst="rect">
            <a:avLst>
              <a:gd name="adj" fmla="val 4324"/>
            </a:avLst>
          </a:prstGeom>
          <a:solidFill>
            <a:srgbClr val="EEF1FA"/>
          </a:solidFill>
          <a:ln/>
          <a:effectLst>
            <a:outerShdw sx="100000" sy="100000" kx="0" ky="0" algn="bl" rotWithShape="0" blurRad="127000" dist="38100" dir="5400000">
              <a:srgbClr val="1B1F3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404872"/>
            <a:ext cx="566928" cy="566928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743" y="2540935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35000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Vitesse d'apprentissage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68680" y="31089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quelle vitesse la récompense progresse-t-elle ?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97680" y="2148840"/>
            <a:ext cx="3429000" cy="1691640"/>
          </a:xfrm>
          <a:prstGeom prst="rect">
            <a:avLst>
              <a:gd name="adj" fmla="val 4324"/>
            </a:avLst>
          </a:prstGeom>
          <a:solidFill>
            <a:srgbClr val="EEF1FA"/>
          </a:solidFill>
          <a:ln/>
          <a:effectLst>
            <a:outerShdw sx="100000" sy="100000" kx="0" ky="0" algn="bl" rotWithShape="0" blurRad="127000" dist="38100" dir="5400000">
              <a:srgbClr val="1B1F3B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26280" y="2404872"/>
            <a:ext cx="566928" cy="566928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343" y="2540935"/>
            <a:ext cx="294803" cy="2948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57800" y="235000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Stabilité des récompenses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26280" y="31089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courbes oscillent-elles fortement ?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955280" y="2148840"/>
            <a:ext cx="3429000" cy="1691640"/>
          </a:xfrm>
          <a:prstGeom prst="rect">
            <a:avLst>
              <a:gd name="adj" fmla="val 4324"/>
            </a:avLst>
          </a:prstGeom>
          <a:solidFill>
            <a:srgbClr val="EEF1FA"/>
          </a:solidFill>
          <a:ln/>
          <a:effectLst>
            <a:outerShdw sx="100000" sy="100000" kx="0" ky="0" algn="bl" rotWithShape="0" blurRad="127000" dist="38100" dir="5400000">
              <a:srgbClr val="1B1F3B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183880" y="2404872"/>
            <a:ext cx="566928" cy="566928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9943" y="2540935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15400" y="235000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de la politique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183880" y="31089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politique apprise se maintient-elle dans le temps ?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40080" y="4114800"/>
            <a:ext cx="3429000" cy="1691640"/>
          </a:xfrm>
          <a:prstGeom prst="rect">
            <a:avLst>
              <a:gd name="adj" fmla="val 4324"/>
            </a:avLst>
          </a:prstGeom>
          <a:solidFill>
            <a:srgbClr val="EEF1FA"/>
          </a:solidFill>
          <a:ln/>
          <a:effectLst>
            <a:outerShdw sx="100000" sy="100000" kx="0" ky="0" algn="bl" rotWithShape="0" blurRad="127000" dist="38100" dir="5400000">
              <a:srgbClr val="1B1F3B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68680" y="4370832"/>
            <a:ext cx="566928" cy="566928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743" y="4506895"/>
            <a:ext cx="294803" cy="29480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00200" y="431596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des performances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868680" y="50749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écart-type observe-t-on entre runs ?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297680" y="4114800"/>
            <a:ext cx="3429000" cy="1691640"/>
          </a:xfrm>
          <a:prstGeom prst="rect">
            <a:avLst>
              <a:gd name="adj" fmla="val 4324"/>
            </a:avLst>
          </a:prstGeom>
          <a:solidFill>
            <a:srgbClr val="EEF1FA"/>
          </a:solidFill>
          <a:ln/>
          <a:effectLst>
            <a:outerShdw sx="100000" sy="100000" kx="0" ky="0" algn="bl" rotWithShape="0" blurRad="127000" dist="38100" dir="5400000">
              <a:srgbClr val="1B1F3B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526280" y="4370832"/>
            <a:ext cx="566928" cy="566928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2343" y="4506895"/>
            <a:ext cx="294803" cy="29480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257800" y="431596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Sensibilité aux seeds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526280" y="50749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résultats sont-ils reproductibles ?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7955280" y="4114800"/>
            <a:ext cx="3429000" cy="1691640"/>
          </a:xfrm>
          <a:prstGeom prst="rect">
            <a:avLst>
              <a:gd name="adj" fmla="val 4324"/>
            </a:avLst>
          </a:prstGeom>
          <a:solidFill>
            <a:srgbClr val="EEF1FA"/>
          </a:solidFill>
          <a:ln/>
          <a:effectLst>
            <a:outerShdw sx="100000" sy="100000" kx="0" ky="0" algn="bl" rotWithShape="0" blurRad="127000" dist="38100" dir="5400000">
              <a:srgbClr val="1B1F3B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183880" y="4370832"/>
            <a:ext cx="566928" cy="566928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19943" y="4506895"/>
            <a:ext cx="294803" cy="294803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915400" y="431596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de calcul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8183880" y="50749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est le coût pour atteindre une bonne stratégie ?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MÉTHODOLOGIE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pipeline DQN entièrement figé — seul l'optimiseur varie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24128" y="2249424"/>
            <a:ext cx="1609344" cy="-120178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4128" y="2249424"/>
            <a:ext cx="1609344" cy="180267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4128" y="2249424"/>
            <a:ext cx="1609344" cy="480713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" y="2249424"/>
            <a:ext cx="1609344" cy="781159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2249424"/>
            <a:ext cx="1609344" cy="1081605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2249424"/>
            <a:ext cx="1609344" cy="1382050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2670048"/>
            <a:ext cx="1609344" cy="-540802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4128" y="2670048"/>
            <a:ext cx="1609344" cy="-240357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24128" y="2670048"/>
            <a:ext cx="1609344" cy="60089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4128" y="2670048"/>
            <a:ext cx="1609344" cy="360535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4128" y="2670048"/>
            <a:ext cx="1609344" cy="660981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4128" y="2670048"/>
            <a:ext cx="1609344" cy="961426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" y="3090672"/>
            <a:ext cx="1609344" cy="-961426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4128" y="3090672"/>
            <a:ext cx="1609344" cy="-660981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24128" y="3090672"/>
            <a:ext cx="1609344" cy="-360535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24128" y="3090672"/>
            <a:ext cx="1609344" cy="-60089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4128" y="3090672"/>
            <a:ext cx="1609344" cy="240357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24128" y="3090672"/>
            <a:ext cx="1609344" cy="540802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4128" y="3511296"/>
            <a:ext cx="1609344" cy="-1382050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24128" y="3511296"/>
            <a:ext cx="1609344" cy="-1081605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4128" y="3511296"/>
            <a:ext cx="1609344" cy="-781159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24128" y="3511296"/>
            <a:ext cx="1609344" cy="-480713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4128" y="3511296"/>
            <a:ext cx="1609344" cy="-180267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24128" y="3511296"/>
            <a:ext cx="1609344" cy="120178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35808" y="2129246"/>
            <a:ext cx="1609344" cy="0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35808" y="2129246"/>
            <a:ext cx="1609344" cy="300446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35808" y="2129246"/>
            <a:ext cx="1609344" cy="600891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35808" y="2129246"/>
            <a:ext cx="1609344" cy="901337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35808" y="2129246"/>
            <a:ext cx="1609344" cy="1201783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35808" y="2129246"/>
            <a:ext cx="1609344" cy="1502229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35808" y="2429691"/>
            <a:ext cx="1609344" cy="-300446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035808" y="2429691"/>
            <a:ext cx="1609344" cy="0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035808" y="2429691"/>
            <a:ext cx="1609344" cy="300446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035808" y="2429691"/>
            <a:ext cx="1609344" cy="600891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035808" y="2429691"/>
            <a:ext cx="1609344" cy="901337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035808" y="2429691"/>
            <a:ext cx="1609344" cy="1201783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035808" y="2730137"/>
            <a:ext cx="1609344" cy="-600891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035808" y="2730137"/>
            <a:ext cx="1609344" cy="-300446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035808" y="2730137"/>
            <a:ext cx="1609344" cy="0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035808" y="2730137"/>
            <a:ext cx="1609344" cy="300446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035808" y="2730137"/>
            <a:ext cx="1609344" cy="600891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035808" y="2730137"/>
            <a:ext cx="1609344" cy="901337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035808" y="3030583"/>
            <a:ext cx="1609344" cy="-901337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035808" y="3030583"/>
            <a:ext cx="1609344" cy="-600891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035808" y="3030583"/>
            <a:ext cx="1609344" cy="-300446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035808" y="3030583"/>
            <a:ext cx="1609344" cy="0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035808" y="3030583"/>
            <a:ext cx="1609344" cy="300446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035808" y="3030583"/>
            <a:ext cx="1609344" cy="600891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035808" y="3331029"/>
            <a:ext cx="1609344" cy="-1201783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035808" y="3331029"/>
            <a:ext cx="1609344" cy="-901337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035808" y="3331029"/>
            <a:ext cx="1609344" cy="-600891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035808" y="3331029"/>
            <a:ext cx="1609344" cy="-300446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035808" y="3331029"/>
            <a:ext cx="1609344" cy="0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035808" y="3331029"/>
            <a:ext cx="1609344" cy="300446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035808" y="3631474"/>
            <a:ext cx="1609344" cy="-1502229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035808" y="3631474"/>
            <a:ext cx="1609344" cy="-1201783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035808" y="3631474"/>
            <a:ext cx="1609344" cy="-901337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035808" y="3631474"/>
            <a:ext cx="1609344" cy="-600891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035808" y="3631474"/>
            <a:ext cx="1609344" cy="-300446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035808" y="3631474"/>
            <a:ext cx="1609344" cy="0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047488" y="2129246"/>
            <a:ext cx="1609344" cy="400594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047488" y="2129246"/>
            <a:ext cx="1609344" cy="1101634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047488" y="2429691"/>
            <a:ext cx="1609344" cy="100149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047488" y="2429691"/>
            <a:ext cx="1609344" cy="801189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047488" y="2730137"/>
            <a:ext cx="1609344" cy="-200297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047488" y="2730137"/>
            <a:ext cx="1609344" cy="500743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047488" y="3030583"/>
            <a:ext cx="1609344" cy="-500743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047488" y="3030583"/>
            <a:ext cx="1609344" cy="200297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047488" y="3331029"/>
            <a:ext cx="1609344" cy="-801189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047488" y="3331029"/>
            <a:ext cx="1609344" cy="-100149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5047488" y="3631474"/>
            <a:ext cx="1609344" cy="-1101634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047488" y="3631474"/>
            <a:ext cx="1609344" cy="-400594"/>
          </a:xfrm>
          <a:prstGeom prst="line">
            <a:avLst/>
          </a:prstGeom>
          <a:noFill/>
          <a:ln w="9525">
            <a:solidFill>
              <a:srgbClr val="C7CFEA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22960" y="2148840"/>
            <a:ext cx="201168" cy="20116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22960" y="2569464"/>
            <a:ext cx="201168" cy="20116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22960" y="2990088"/>
            <a:ext cx="201168" cy="20116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22960" y="3410712"/>
            <a:ext cx="201168" cy="20116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20040" y="404164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neurones</a:t>
            </a:r>
            <a:endParaRPr lang="en-US" sz="1050" dirty="0"/>
          </a:p>
        </p:txBody>
      </p:sp>
      <p:sp>
        <p:nvSpPr>
          <p:cNvPr id="81" name="Shape 79"/>
          <p:cNvSpPr/>
          <p:nvPr/>
        </p:nvSpPr>
        <p:spPr>
          <a:xfrm>
            <a:off x="2834640" y="2028662"/>
            <a:ext cx="201168" cy="20116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834640" y="2329107"/>
            <a:ext cx="201168" cy="20116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834640" y="2629553"/>
            <a:ext cx="201168" cy="20116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834640" y="2929999"/>
            <a:ext cx="201168" cy="20116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834640" y="3230445"/>
            <a:ext cx="201168" cy="20116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834640" y="3530890"/>
            <a:ext cx="201168" cy="20116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331720" y="404164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128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050" dirty="0"/>
          </a:p>
        </p:txBody>
      </p:sp>
      <p:sp>
        <p:nvSpPr>
          <p:cNvPr id="88" name="Shape 86"/>
          <p:cNvSpPr/>
          <p:nvPr/>
        </p:nvSpPr>
        <p:spPr>
          <a:xfrm>
            <a:off x="4846320" y="2028662"/>
            <a:ext cx="201168" cy="20116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846320" y="2329107"/>
            <a:ext cx="201168" cy="20116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846320" y="2629553"/>
            <a:ext cx="201168" cy="20116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846320" y="2929999"/>
            <a:ext cx="201168" cy="20116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846320" y="3230445"/>
            <a:ext cx="201168" cy="20116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4846320" y="3530890"/>
            <a:ext cx="201168" cy="20116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4343400" y="404164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128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050" dirty="0"/>
          </a:p>
        </p:txBody>
      </p:sp>
      <p:sp>
        <p:nvSpPr>
          <p:cNvPr id="95" name="Shape 93"/>
          <p:cNvSpPr/>
          <p:nvPr/>
        </p:nvSpPr>
        <p:spPr>
          <a:xfrm>
            <a:off x="6858000" y="2429256"/>
            <a:ext cx="201168" cy="20116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858000" y="3130296"/>
            <a:ext cx="201168" cy="201168"/>
          </a:xfrm>
          <a:prstGeom prst="ellipse">
            <a:avLst/>
          </a:prstGeom>
          <a:solidFill>
            <a:srgbClr val="3D5A8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355080" y="4041648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Q-valeurs</a:t>
            </a:r>
            <a:endParaRPr lang="en-US" sz="1050" dirty="0"/>
          </a:p>
        </p:txBody>
      </p:sp>
      <p:sp>
        <p:nvSpPr>
          <p:cNvPr id="98" name="Shape 96"/>
          <p:cNvSpPr/>
          <p:nvPr/>
        </p:nvSpPr>
        <p:spPr>
          <a:xfrm>
            <a:off x="502920" y="1508760"/>
            <a:ext cx="6903720" cy="2788920"/>
          </a:xfrm>
          <a:prstGeom prst="rect">
            <a:avLst/>
          </a:prstGeom>
          <a:ln w="12700">
            <a:solidFill>
              <a:srgbClr val="C7CFEA"/>
            </a:solidFill>
            <a:prstDash val="dash"/>
          </a:ln>
        </p:spPr>
      </p:sp>
      <p:sp>
        <p:nvSpPr>
          <p:cNvPr id="99" name="Text 97"/>
          <p:cNvSpPr/>
          <p:nvPr/>
        </p:nvSpPr>
        <p:spPr>
          <a:xfrm>
            <a:off x="502920" y="4343400"/>
            <a:ext cx="6903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de politique (identique pour tous les runs)</a:t>
            </a:r>
            <a:endParaRPr lang="en-US" sz="1050" dirty="0"/>
          </a:p>
        </p:txBody>
      </p:sp>
      <p:sp>
        <p:nvSpPr>
          <p:cNvPr id="100" name="Text 98"/>
          <p:cNvSpPr/>
          <p:nvPr/>
        </p:nvSpPr>
        <p:spPr>
          <a:xfrm>
            <a:off x="7818120" y="15087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Mécanismes de stabilisation</a:t>
            </a:r>
            <a:endParaRPr lang="en-US" sz="1350" dirty="0"/>
          </a:p>
        </p:txBody>
      </p:sp>
      <p:sp>
        <p:nvSpPr>
          <p:cNvPr id="101" name="Shape 99"/>
          <p:cNvSpPr/>
          <p:nvPr/>
        </p:nvSpPr>
        <p:spPr>
          <a:xfrm>
            <a:off x="7818120" y="1965960"/>
            <a:ext cx="3749040" cy="731520"/>
          </a:xfrm>
          <a:prstGeom prst="rect">
            <a:avLst>
              <a:gd name="adj" fmla="val 8750"/>
            </a:avLst>
          </a:prstGeom>
          <a:solidFill>
            <a:srgbClr val="EEF1FA"/>
          </a:solidFill>
          <a:ln/>
        </p:spPr>
      </p:sp>
      <p:sp>
        <p:nvSpPr>
          <p:cNvPr id="102" name="Shape 100"/>
          <p:cNvSpPr/>
          <p:nvPr/>
        </p:nvSpPr>
        <p:spPr>
          <a:xfrm>
            <a:off x="7927848" y="2075688"/>
            <a:ext cx="512064" cy="512064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10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0743" y="2198583"/>
            <a:ext cx="266273" cy="266273"/>
          </a:xfrm>
          <a:prstGeom prst="rect">
            <a:avLst/>
          </a:prstGeom>
        </p:spPr>
      </p:pic>
      <p:sp>
        <p:nvSpPr>
          <p:cNvPr id="104" name="Text 101"/>
          <p:cNvSpPr/>
          <p:nvPr/>
        </p:nvSpPr>
        <p:spPr>
          <a:xfrm>
            <a:off x="8595360" y="203911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Buffer</a:t>
            </a:r>
            <a:endParaRPr lang="en-US" sz="1250" dirty="0"/>
          </a:p>
        </p:txBody>
      </p:sp>
      <p:sp>
        <p:nvSpPr>
          <p:cNvPr id="105" name="Text 102"/>
          <p:cNvSpPr/>
          <p:nvPr/>
        </p:nvSpPr>
        <p:spPr>
          <a:xfrm>
            <a:off x="8595360" y="233172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10 000 transitions, mini-lots de 64</a:t>
            </a:r>
            <a:endParaRPr lang="en-US" sz="1050" dirty="0"/>
          </a:p>
        </p:txBody>
      </p:sp>
      <p:sp>
        <p:nvSpPr>
          <p:cNvPr id="106" name="Shape 103"/>
          <p:cNvSpPr/>
          <p:nvPr/>
        </p:nvSpPr>
        <p:spPr>
          <a:xfrm>
            <a:off x="7818120" y="2834640"/>
            <a:ext cx="3749040" cy="731520"/>
          </a:xfrm>
          <a:prstGeom prst="rect">
            <a:avLst>
              <a:gd name="adj" fmla="val 8750"/>
            </a:avLst>
          </a:prstGeom>
          <a:solidFill>
            <a:srgbClr val="EEF1FA"/>
          </a:solidFill>
          <a:ln/>
        </p:spPr>
      </p:sp>
      <p:sp>
        <p:nvSpPr>
          <p:cNvPr id="107" name="Shape 104"/>
          <p:cNvSpPr/>
          <p:nvPr/>
        </p:nvSpPr>
        <p:spPr>
          <a:xfrm>
            <a:off x="7927848" y="2944368"/>
            <a:ext cx="512064" cy="512064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10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0743" y="3067263"/>
            <a:ext cx="266273" cy="266273"/>
          </a:xfrm>
          <a:prstGeom prst="rect">
            <a:avLst/>
          </a:prstGeom>
        </p:spPr>
      </p:pic>
      <p:sp>
        <p:nvSpPr>
          <p:cNvPr id="109" name="Text 105"/>
          <p:cNvSpPr/>
          <p:nvPr/>
        </p:nvSpPr>
        <p:spPr>
          <a:xfrm>
            <a:off x="8595360" y="290779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Network</a:t>
            </a:r>
            <a:endParaRPr lang="en-US" sz="1250" dirty="0"/>
          </a:p>
        </p:txBody>
      </p:sp>
      <p:sp>
        <p:nvSpPr>
          <p:cNvPr id="110" name="Text 106"/>
          <p:cNvSpPr/>
          <p:nvPr/>
        </p:nvSpPr>
        <p:spPr>
          <a:xfrm>
            <a:off x="8595360" y="32004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copié toutes les 10 épisodes</a:t>
            </a:r>
            <a:endParaRPr lang="en-US" sz="1050" dirty="0"/>
          </a:p>
        </p:txBody>
      </p:sp>
      <p:sp>
        <p:nvSpPr>
          <p:cNvPr id="111" name="Shape 107"/>
          <p:cNvSpPr/>
          <p:nvPr/>
        </p:nvSpPr>
        <p:spPr>
          <a:xfrm>
            <a:off x="7818120" y="3703320"/>
            <a:ext cx="3749040" cy="731520"/>
          </a:xfrm>
          <a:prstGeom prst="rect">
            <a:avLst>
              <a:gd name="adj" fmla="val 8750"/>
            </a:avLst>
          </a:prstGeom>
          <a:solidFill>
            <a:srgbClr val="EEF1FA"/>
          </a:solidFill>
          <a:ln/>
        </p:spPr>
      </p:sp>
      <p:sp>
        <p:nvSpPr>
          <p:cNvPr id="112" name="Shape 108"/>
          <p:cNvSpPr/>
          <p:nvPr/>
        </p:nvSpPr>
        <p:spPr>
          <a:xfrm>
            <a:off x="7927848" y="3813048"/>
            <a:ext cx="512064" cy="512064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1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0743" y="3935943"/>
            <a:ext cx="266273" cy="266273"/>
          </a:xfrm>
          <a:prstGeom prst="rect">
            <a:avLst/>
          </a:prstGeom>
        </p:spPr>
      </p:pic>
      <p:sp>
        <p:nvSpPr>
          <p:cNvPr id="114" name="Text 109"/>
          <p:cNvSpPr/>
          <p:nvPr/>
        </p:nvSpPr>
        <p:spPr>
          <a:xfrm>
            <a:off x="8595360" y="3776472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ε-greedy</a:t>
            </a:r>
            <a:endParaRPr lang="en-US" sz="1250" dirty="0"/>
          </a:p>
        </p:txBody>
      </p:sp>
      <p:sp>
        <p:nvSpPr>
          <p:cNvPr id="115" name="Text 110"/>
          <p:cNvSpPr/>
          <p:nvPr/>
        </p:nvSpPr>
        <p:spPr>
          <a:xfrm>
            <a:off x="8595360" y="406908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→ 0.01, décroissance ×0.995</a:t>
            </a:r>
            <a:endParaRPr lang="en-US" sz="1050" dirty="0"/>
          </a:p>
        </p:txBody>
      </p:sp>
      <p:sp>
        <p:nvSpPr>
          <p:cNvPr id="116" name="Shape 111"/>
          <p:cNvSpPr/>
          <p:nvPr/>
        </p:nvSpPr>
        <p:spPr>
          <a:xfrm>
            <a:off x="640080" y="4709160"/>
            <a:ext cx="10908792" cy="777240"/>
          </a:xfrm>
          <a:prstGeom prst="rect">
            <a:avLst>
              <a:gd name="adj" fmla="val 9412"/>
            </a:avLst>
          </a:prstGeom>
          <a:solidFill>
            <a:srgbClr val="1B1F3B"/>
          </a:solidFill>
          <a:ln/>
        </p:spPr>
      </p:sp>
      <p:sp>
        <p:nvSpPr>
          <p:cNvPr id="117" name="Text 112"/>
          <p:cNvSpPr/>
          <p:nvPr/>
        </p:nvSpPr>
        <p:spPr>
          <a:xfrm>
            <a:off x="914400" y="4709160"/>
            <a:ext cx="1036015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optimiseurs testés :  </a:t>
            </a:r>
            <a:pPr indent="0" marL="0">
              <a:buNone/>
            </a:pPr>
            <a:r>
              <a:rPr lang="en-US" sz="1350" b="1" dirty="0">
                <a:solidFill>
                  <a:srgbClr val="E8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  ·   SGD+Momentum   ·   RMSprop   ·   Adam   ·   AdamW</a:t>
            </a:r>
            <a:pPr indent="0" marL="0">
              <a:buNone/>
            </a:pPr>
            <a:r>
              <a:rPr lang="en-US" sz="135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même learning rate (1e-3), aucun réglage spécifique</a:t>
            </a:r>
            <a:endParaRPr lang="en-US" sz="1350" dirty="0"/>
          </a:p>
        </p:txBody>
      </p:sp>
      <p:sp>
        <p:nvSpPr>
          <p:cNvPr id="118" name="Text 11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MÉTHODOLOGIE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cycle d'apprentissage du DQN, pas à pas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755648" cy="1417320"/>
          </a:xfrm>
          <a:prstGeom prst="rect">
            <a:avLst>
              <a:gd name="adj" fmla="val 5806"/>
            </a:avLst>
          </a:prstGeom>
          <a:solidFill>
            <a:srgbClr val="EEF1FA"/>
          </a:solidFill>
          <a:ln/>
          <a:effectLst>
            <a:outerShdw sx="100000" sy="100000" kx="0" ky="0" algn="bl" rotWithShape="0" blurRad="127000" dist="38100" dir="5400000">
              <a:srgbClr val="1B1F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52728" y="1856232"/>
            <a:ext cx="530352" cy="530352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0012" y="1983516"/>
            <a:ext cx="275783" cy="2757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2496312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13232" y="2825496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courante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395728" y="2400300"/>
            <a:ext cx="128016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523744" y="1691640"/>
            <a:ext cx="1755648" cy="1417320"/>
          </a:xfrm>
          <a:prstGeom prst="rect">
            <a:avLst>
              <a:gd name="adj" fmla="val 5806"/>
            </a:avLst>
          </a:prstGeom>
          <a:solidFill>
            <a:srgbClr val="EEF1FA"/>
          </a:solidFill>
          <a:ln/>
          <a:effectLst>
            <a:outerShdw sx="100000" sy="100000" kx="0" ky="0" algn="bl" rotWithShape="0" blurRad="127000" dist="38100" dir="5400000">
              <a:srgbClr val="1B1F3B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136392" y="1856232"/>
            <a:ext cx="530352" cy="530352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3676" y="1983516"/>
            <a:ext cx="275783" cy="27578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596896" y="2496312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de politique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596896" y="2825496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prédit les Q-valeurs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4279392" y="2400300"/>
            <a:ext cx="128016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4407408" y="1691640"/>
            <a:ext cx="1755648" cy="1417320"/>
          </a:xfrm>
          <a:prstGeom prst="rect">
            <a:avLst>
              <a:gd name="adj" fmla="val 5806"/>
            </a:avLst>
          </a:prstGeom>
          <a:solidFill>
            <a:srgbClr val="EEF1FA"/>
          </a:solidFill>
          <a:ln/>
          <a:effectLst>
            <a:outerShdw sx="100000" sy="100000" kx="0" ky="0" algn="bl" rotWithShape="0" blurRad="127000" dist="38100" dir="5400000">
              <a:srgbClr val="1B1F3B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020056" y="1856232"/>
            <a:ext cx="530352" cy="530352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7340" y="1983516"/>
            <a:ext cx="275783" cy="27578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480560" y="2496312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Q-valeurs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4480560" y="2825496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chaque action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6163056" y="2400300"/>
            <a:ext cx="128016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6291072" y="1691640"/>
            <a:ext cx="1755648" cy="1417320"/>
          </a:xfrm>
          <a:prstGeom prst="rect">
            <a:avLst>
              <a:gd name="adj" fmla="val 5806"/>
            </a:avLst>
          </a:prstGeom>
          <a:solidFill>
            <a:srgbClr val="EEF1FA"/>
          </a:solidFill>
          <a:ln/>
          <a:effectLst>
            <a:outerShdw sx="100000" sy="100000" kx="0" ky="0" algn="bl" rotWithShape="0" blurRad="127000" dist="38100" dir="5400000">
              <a:srgbClr val="1B1F3B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903720" y="1856232"/>
            <a:ext cx="530352" cy="530352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1004" y="1983516"/>
            <a:ext cx="275783" cy="27578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364224" y="2496312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(ε-greedy)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6364224" y="2825496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exploite ou explore</a:t>
            </a: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8046720" y="2400300"/>
            <a:ext cx="128016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8174736" y="1691640"/>
            <a:ext cx="1755648" cy="1417320"/>
          </a:xfrm>
          <a:prstGeom prst="rect">
            <a:avLst>
              <a:gd name="adj" fmla="val 5806"/>
            </a:avLst>
          </a:prstGeom>
          <a:solidFill>
            <a:srgbClr val="EEF1FA"/>
          </a:solidFill>
          <a:ln/>
          <a:effectLst>
            <a:outerShdw sx="100000" sy="100000" kx="0" ky="0" algn="bl" rotWithShape="0" blurRad="127000" dist="38100" dir="5400000">
              <a:srgbClr val="1B1F3B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8787384" y="1856232"/>
            <a:ext cx="530352" cy="530352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4668" y="1983516"/>
            <a:ext cx="275783" cy="275783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247888" y="2496312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Récompense + s'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8247888" y="2825496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de l'environnement</a:t>
            </a:r>
            <a:endParaRPr lang="en-US" sz="850" dirty="0"/>
          </a:p>
        </p:txBody>
      </p:sp>
      <p:sp>
        <p:nvSpPr>
          <p:cNvPr id="33" name="Shape 26"/>
          <p:cNvSpPr/>
          <p:nvPr/>
        </p:nvSpPr>
        <p:spPr>
          <a:xfrm>
            <a:off x="9930384" y="2400300"/>
            <a:ext cx="128016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4" name="Shape 27"/>
          <p:cNvSpPr/>
          <p:nvPr/>
        </p:nvSpPr>
        <p:spPr>
          <a:xfrm>
            <a:off x="10058400" y="1691640"/>
            <a:ext cx="1755648" cy="1417320"/>
          </a:xfrm>
          <a:prstGeom prst="rect">
            <a:avLst>
              <a:gd name="adj" fmla="val 5806"/>
            </a:avLst>
          </a:prstGeom>
          <a:solidFill>
            <a:srgbClr val="EEF1FA"/>
          </a:solidFill>
          <a:ln/>
          <a:effectLst>
            <a:outerShdw sx="100000" sy="100000" kx="0" ky="0" algn="bl" rotWithShape="0" blurRad="127000" dist="38100" dir="5400000">
              <a:srgbClr val="1B1F3B">
                <a:alpha val="12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10671048" y="1856232"/>
            <a:ext cx="530352" cy="530352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98332" y="1983516"/>
            <a:ext cx="275783" cy="275783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131552" y="2496312"/>
            <a:ext cx="16093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Buffer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10131552" y="2825496"/>
            <a:ext cx="1609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stocke la transition</a:t>
            </a:r>
            <a:endParaRPr lang="en-US" sz="850" dirty="0"/>
          </a:p>
        </p:txBody>
      </p:sp>
      <p:sp>
        <p:nvSpPr>
          <p:cNvPr id="39" name="Shape 31"/>
          <p:cNvSpPr/>
          <p:nvPr/>
        </p:nvSpPr>
        <p:spPr>
          <a:xfrm>
            <a:off x="786384" y="3886200"/>
            <a:ext cx="2606040" cy="960120"/>
          </a:xfrm>
          <a:prstGeom prst="rect">
            <a:avLst>
              <a:gd name="adj" fmla="val 8571"/>
            </a:avLst>
          </a:prstGeom>
          <a:solidFill>
            <a:srgbClr val="EEF1FA"/>
          </a:solidFill>
          <a:ln/>
          <a:effectLst>
            <a:outerShdw sx="100000" sy="100000" kx="0" ky="0" algn="bl" rotWithShape="0" blurRad="127000" dist="38100" dir="5400000">
              <a:srgbClr val="1B1F3B">
                <a:alpha val="12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914400" y="4105656"/>
            <a:ext cx="530352" cy="530352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1684" y="4232940"/>
            <a:ext cx="275783" cy="275783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1563624" y="401421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Mini-lot (64)</a:t>
            </a:r>
            <a:endParaRPr lang="en-US" sz="1200" dirty="0"/>
          </a:p>
        </p:txBody>
      </p:sp>
      <p:sp>
        <p:nvSpPr>
          <p:cNvPr id="43" name="Text 34"/>
          <p:cNvSpPr/>
          <p:nvPr/>
        </p:nvSpPr>
        <p:spPr>
          <a:xfrm>
            <a:off x="1563624" y="4370832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échantillonné du buffer</a:t>
            </a:r>
            <a:endParaRPr lang="en-US" sz="950" dirty="0"/>
          </a:p>
        </p:txBody>
      </p:sp>
      <p:sp>
        <p:nvSpPr>
          <p:cNvPr id="44" name="Shape 35"/>
          <p:cNvSpPr/>
          <p:nvPr/>
        </p:nvSpPr>
        <p:spPr>
          <a:xfrm>
            <a:off x="3392424" y="4361688"/>
            <a:ext cx="2011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5" name="Shape 36"/>
          <p:cNvSpPr/>
          <p:nvPr/>
        </p:nvSpPr>
        <p:spPr>
          <a:xfrm>
            <a:off x="3593592" y="3886200"/>
            <a:ext cx="2606040" cy="960120"/>
          </a:xfrm>
          <a:prstGeom prst="rect">
            <a:avLst>
              <a:gd name="adj" fmla="val 8571"/>
            </a:avLst>
          </a:prstGeom>
          <a:solidFill>
            <a:srgbClr val="EEF1FA"/>
          </a:solidFill>
          <a:ln/>
          <a:effectLst>
            <a:outerShdw sx="100000" sy="100000" kx="0" ky="0" algn="bl" rotWithShape="0" blurRad="127000" dist="38100" dir="5400000">
              <a:srgbClr val="1B1F3B">
                <a:alpha val="12000"/>
              </a:srgbClr>
            </a:outerShdw>
          </a:effectLst>
        </p:spPr>
      </p:sp>
      <p:sp>
        <p:nvSpPr>
          <p:cNvPr id="46" name="Shape 37"/>
          <p:cNvSpPr/>
          <p:nvPr/>
        </p:nvSpPr>
        <p:spPr>
          <a:xfrm>
            <a:off x="3721608" y="4105656"/>
            <a:ext cx="530352" cy="530352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48892" y="4232940"/>
            <a:ext cx="275783" cy="275783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4370832" y="401421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 de Bellman</a:t>
            </a:r>
            <a:endParaRPr lang="en-US" sz="1200" dirty="0"/>
          </a:p>
        </p:txBody>
      </p:sp>
      <p:sp>
        <p:nvSpPr>
          <p:cNvPr id="49" name="Text 39"/>
          <p:cNvSpPr/>
          <p:nvPr/>
        </p:nvSpPr>
        <p:spPr>
          <a:xfrm>
            <a:off x="4370832" y="4370832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− prédiction (MSE)</a:t>
            </a:r>
            <a:endParaRPr lang="en-US" sz="950" dirty="0"/>
          </a:p>
        </p:txBody>
      </p:sp>
      <p:sp>
        <p:nvSpPr>
          <p:cNvPr id="50" name="Shape 40"/>
          <p:cNvSpPr/>
          <p:nvPr/>
        </p:nvSpPr>
        <p:spPr>
          <a:xfrm>
            <a:off x="6199632" y="4361688"/>
            <a:ext cx="2011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51" name="Shape 41"/>
          <p:cNvSpPr/>
          <p:nvPr/>
        </p:nvSpPr>
        <p:spPr>
          <a:xfrm>
            <a:off x="6400800" y="3886200"/>
            <a:ext cx="2606040" cy="960120"/>
          </a:xfrm>
          <a:prstGeom prst="rect">
            <a:avLst>
              <a:gd name="adj" fmla="val 8571"/>
            </a:avLst>
          </a:prstGeom>
          <a:solidFill>
            <a:srgbClr val="EEF1FA"/>
          </a:solidFill>
          <a:ln/>
          <a:effectLst>
            <a:outerShdw sx="100000" sy="100000" kx="0" ky="0" algn="bl" rotWithShape="0" blurRad="127000" dist="38100" dir="5400000">
              <a:srgbClr val="1B1F3B">
                <a:alpha val="12000"/>
              </a:srgbClr>
            </a:outerShdw>
          </a:effectLst>
        </p:spPr>
      </p:sp>
      <p:sp>
        <p:nvSpPr>
          <p:cNvPr id="52" name="Shape 42"/>
          <p:cNvSpPr/>
          <p:nvPr/>
        </p:nvSpPr>
        <p:spPr>
          <a:xfrm>
            <a:off x="6528816" y="4105656"/>
            <a:ext cx="530352" cy="530352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5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56100" y="4232940"/>
            <a:ext cx="275783" cy="275783"/>
          </a:xfrm>
          <a:prstGeom prst="rect">
            <a:avLst/>
          </a:prstGeom>
        </p:spPr>
      </p:pic>
      <p:sp>
        <p:nvSpPr>
          <p:cNvPr id="54" name="Text 43"/>
          <p:cNvSpPr/>
          <p:nvPr/>
        </p:nvSpPr>
        <p:spPr>
          <a:xfrm>
            <a:off x="7178040" y="401421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Rétropropagation</a:t>
            </a:r>
            <a:endParaRPr lang="en-US" sz="1200" dirty="0"/>
          </a:p>
        </p:txBody>
      </p:sp>
      <p:sp>
        <p:nvSpPr>
          <p:cNvPr id="55" name="Text 44"/>
          <p:cNvSpPr/>
          <p:nvPr/>
        </p:nvSpPr>
        <p:spPr>
          <a:xfrm>
            <a:off x="7178040" y="4370832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 la perte</a:t>
            </a:r>
            <a:endParaRPr lang="en-US" sz="950" dirty="0"/>
          </a:p>
        </p:txBody>
      </p:sp>
      <p:sp>
        <p:nvSpPr>
          <p:cNvPr id="56" name="Shape 45"/>
          <p:cNvSpPr/>
          <p:nvPr/>
        </p:nvSpPr>
        <p:spPr>
          <a:xfrm>
            <a:off x="9006840" y="4361688"/>
            <a:ext cx="201168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57" name="Shape 46"/>
          <p:cNvSpPr/>
          <p:nvPr/>
        </p:nvSpPr>
        <p:spPr>
          <a:xfrm>
            <a:off x="9208008" y="3886200"/>
            <a:ext cx="2606040" cy="960120"/>
          </a:xfrm>
          <a:prstGeom prst="rect">
            <a:avLst>
              <a:gd name="adj" fmla="val 8571"/>
            </a:avLst>
          </a:prstGeom>
          <a:solidFill>
            <a:srgbClr val="E8923C"/>
          </a:solidFill>
          <a:ln/>
          <a:effectLst>
            <a:outerShdw sx="100000" sy="100000" kx="0" ky="0" algn="bl" rotWithShape="0" blurRad="127000" dist="38100" dir="5400000">
              <a:srgbClr val="1B1F3B">
                <a:alpha val="12000"/>
              </a:srgbClr>
            </a:outerShdw>
          </a:effectLst>
        </p:spPr>
      </p:sp>
      <p:sp>
        <p:nvSpPr>
          <p:cNvPr id="58" name="Shape 47"/>
          <p:cNvSpPr/>
          <p:nvPr/>
        </p:nvSpPr>
        <p:spPr>
          <a:xfrm>
            <a:off x="9336024" y="4105656"/>
            <a:ext cx="530352" cy="530352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5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63308" y="4232940"/>
            <a:ext cx="275783" cy="275783"/>
          </a:xfrm>
          <a:prstGeom prst="rect">
            <a:avLst/>
          </a:prstGeom>
        </p:spPr>
      </p:pic>
      <p:sp>
        <p:nvSpPr>
          <p:cNvPr id="60" name="Text 48"/>
          <p:cNvSpPr/>
          <p:nvPr/>
        </p:nvSpPr>
        <p:spPr>
          <a:xfrm>
            <a:off x="9985248" y="401421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Optimiseur</a:t>
            </a:r>
            <a:endParaRPr lang="en-US" sz="1200" dirty="0"/>
          </a:p>
        </p:txBody>
      </p:sp>
      <p:sp>
        <p:nvSpPr>
          <p:cNvPr id="61" name="Text 49"/>
          <p:cNvSpPr/>
          <p:nvPr/>
        </p:nvSpPr>
        <p:spPr>
          <a:xfrm>
            <a:off x="9985248" y="4370832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à jour les poids</a:t>
            </a:r>
            <a:endParaRPr lang="en-US" sz="950" dirty="0"/>
          </a:p>
        </p:txBody>
      </p:sp>
      <p:sp>
        <p:nvSpPr>
          <p:cNvPr id="62" name="Shape 50"/>
          <p:cNvSpPr/>
          <p:nvPr/>
        </p:nvSpPr>
        <p:spPr>
          <a:xfrm>
            <a:off x="10936224" y="3108960"/>
            <a:ext cx="0" cy="77724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63" name="Shape 51"/>
          <p:cNvSpPr/>
          <p:nvPr/>
        </p:nvSpPr>
        <p:spPr>
          <a:xfrm>
            <a:off x="10511028" y="4846320"/>
            <a:ext cx="0" cy="274320"/>
          </a:xfrm>
          <a:prstGeom prst="line">
            <a:avLst/>
          </a:prstGeom>
          <a:noFill/>
          <a:ln w="25400">
            <a:solidFill>
              <a:srgbClr val="E8923C"/>
            </a:solidFill>
            <a:prstDash val="solid"/>
          </a:ln>
        </p:spPr>
      </p:sp>
      <p:sp>
        <p:nvSpPr>
          <p:cNvPr id="64" name="Shape 52"/>
          <p:cNvSpPr/>
          <p:nvPr/>
        </p:nvSpPr>
        <p:spPr>
          <a:xfrm>
            <a:off x="3401568" y="5120640"/>
            <a:ext cx="7109460" cy="0"/>
          </a:xfrm>
          <a:prstGeom prst="line">
            <a:avLst/>
          </a:prstGeom>
          <a:noFill/>
          <a:ln w="25400">
            <a:solidFill>
              <a:srgbClr val="E8923C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3401568" y="3108960"/>
            <a:ext cx="0" cy="2011680"/>
          </a:xfrm>
          <a:prstGeom prst="line">
            <a:avLst/>
          </a:prstGeom>
          <a:noFill/>
          <a:ln w="25400">
            <a:solidFill>
              <a:srgbClr val="E8923C"/>
            </a:solidFill>
            <a:prstDash val="solid"/>
            <a:headEnd type="triangle"/>
          </a:ln>
        </p:spPr>
      </p:sp>
      <p:sp>
        <p:nvSpPr>
          <p:cNvPr id="66" name="Text 54"/>
          <p:cNvSpPr/>
          <p:nvPr/>
        </p:nvSpPr>
        <p:spPr>
          <a:xfrm>
            <a:off x="3218688" y="517550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E8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à jour des poids du réseau</a:t>
            </a:r>
            <a:endParaRPr lang="en-US" sz="900" dirty="0"/>
          </a:p>
        </p:txBody>
      </p:sp>
      <p:sp>
        <p:nvSpPr>
          <p:cNvPr id="67" name="Text 55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MÉTHODOLOGIE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Cinq optimiseurs, cinq stratégies de mise à jour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084832" cy="640080"/>
          </a:xfrm>
          <a:prstGeom prst="rect">
            <a:avLst>
              <a:gd name="adj" fmla="val 11429"/>
            </a:avLst>
          </a:prstGeom>
          <a:solidFill>
            <a:srgbClr val="8C8C8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2084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2084832" cy="2788920"/>
          </a:xfrm>
          <a:prstGeom prst="rect">
            <a:avLst>
              <a:gd name="adj" fmla="val 3509"/>
            </a:avLst>
          </a:prstGeom>
          <a:solidFill>
            <a:srgbClr val="EEF1FA"/>
          </a:solidFill>
          <a:ln/>
          <a:effectLst>
            <a:outerShdw sx="100000" sy="100000" kx="0" ky="0" algn="bl" rotWithShape="0" blurRad="127000" dist="38100" dir="5400000">
              <a:srgbClr val="1B1F3B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606040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Idée clé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77240" y="2862072"/>
            <a:ext cx="18105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Descente de gradient brute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3840480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le tester ici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7240" y="4096512"/>
            <a:ext cx="18105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référence historique, sans mémoire ni adaptation.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71216" y="1691640"/>
            <a:ext cx="2084832" cy="640080"/>
          </a:xfrm>
          <a:prstGeom prst="rect">
            <a:avLst>
              <a:gd name="adj" fmla="val 11429"/>
            </a:avLst>
          </a:prstGeom>
          <a:solidFill>
            <a:srgbClr val="E8871E"/>
          </a:solidFill>
          <a:ln/>
        </p:spPr>
      </p:sp>
      <p:sp>
        <p:nvSpPr>
          <p:cNvPr id="12" name="Text 10"/>
          <p:cNvSpPr/>
          <p:nvPr/>
        </p:nvSpPr>
        <p:spPr>
          <a:xfrm>
            <a:off x="2871216" y="1691640"/>
            <a:ext cx="2084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+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871216" y="2468880"/>
            <a:ext cx="2084832" cy="2788920"/>
          </a:xfrm>
          <a:prstGeom prst="rect">
            <a:avLst>
              <a:gd name="adj" fmla="val 3509"/>
            </a:avLst>
          </a:prstGeom>
          <a:solidFill>
            <a:srgbClr val="EEF1FA"/>
          </a:solidFill>
          <a:ln/>
          <a:effectLst>
            <a:outerShdw sx="100000" sy="100000" kx="0" ky="0" algn="bl" rotWithShape="0" blurRad="127000" dist="38100" dir="5400000">
              <a:srgbClr val="1B1F3B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008376" y="2606040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Idée clé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008376" y="2862072"/>
            <a:ext cx="18105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moyenne mobile des gradients passés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008376" y="3840480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le tester ici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008376" y="4096512"/>
            <a:ext cx="18105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Lisse les oscillations, accélère la descente.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102352" y="1691640"/>
            <a:ext cx="2084832" cy="640080"/>
          </a:xfrm>
          <a:prstGeom prst="rect">
            <a:avLst>
              <a:gd name="adj" fmla="val 11429"/>
            </a:avLst>
          </a:prstGeom>
          <a:solidFill>
            <a:srgbClr val="2E8B3D"/>
          </a:solidFill>
          <a:ln/>
        </p:spPr>
      </p:sp>
      <p:sp>
        <p:nvSpPr>
          <p:cNvPr id="19" name="Text 17"/>
          <p:cNvSpPr/>
          <p:nvPr/>
        </p:nvSpPr>
        <p:spPr>
          <a:xfrm>
            <a:off x="5102352" y="1691640"/>
            <a:ext cx="2084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RMSprop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102352" y="2468880"/>
            <a:ext cx="2084832" cy="2788920"/>
          </a:xfrm>
          <a:prstGeom prst="rect">
            <a:avLst>
              <a:gd name="adj" fmla="val 3509"/>
            </a:avLst>
          </a:prstGeom>
          <a:solidFill>
            <a:srgbClr val="EEF1FA"/>
          </a:solidFill>
          <a:ln/>
          <a:effectLst>
            <a:outerShdw sx="100000" sy="100000" kx="0" ky="0" algn="bl" rotWithShape="0" blurRad="127000" dist="38100" dir="5400000">
              <a:srgbClr val="1B1F3B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239512" y="2606040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Idée clé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239512" y="2862072"/>
            <a:ext cx="18105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d'apprentissage adaptatif par paramètre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239512" y="3840480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le tester ici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239512" y="4096512"/>
            <a:ext cx="18105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Pensé pour des cibles non stationnaires — pertinent en RL.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33488" y="1691640"/>
            <a:ext cx="2084832" cy="640080"/>
          </a:xfrm>
          <a:prstGeom prst="rect">
            <a:avLst>
              <a:gd name="adj" fmla="val 11429"/>
            </a:avLst>
          </a:prstGeom>
          <a:solidFill>
            <a:srgbClr val="1F6FB4"/>
          </a:solidFill>
          <a:ln/>
        </p:spPr>
      </p:sp>
      <p:sp>
        <p:nvSpPr>
          <p:cNvPr id="26" name="Text 24"/>
          <p:cNvSpPr/>
          <p:nvPr/>
        </p:nvSpPr>
        <p:spPr>
          <a:xfrm>
            <a:off x="7333488" y="1691640"/>
            <a:ext cx="2084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7333488" y="2468880"/>
            <a:ext cx="2084832" cy="2788920"/>
          </a:xfrm>
          <a:prstGeom prst="rect">
            <a:avLst>
              <a:gd name="adj" fmla="val 3509"/>
            </a:avLst>
          </a:prstGeom>
          <a:solidFill>
            <a:srgbClr val="EEF1FA"/>
          </a:solidFill>
          <a:ln/>
          <a:effectLst>
            <a:outerShdw sx="100000" sy="100000" kx="0" ky="0" algn="bl" rotWithShape="0" blurRad="127000" dist="38100" dir="5400000">
              <a:srgbClr val="1B1F3B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470648" y="2606040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Idée clé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470648" y="2862072"/>
            <a:ext cx="18105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+ adaptation par paramètre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470648" y="3840480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le tester ici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470648" y="4096512"/>
            <a:ext cx="18105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par défaut en deep learning.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564624" y="1691640"/>
            <a:ext cx="2084832" cy="640080"/>
          </a:xfrm>
          <a:prstGeom prst="rect">
            <a:avLst>
              <a:gd name="adj" fmla="val 11429"/>
            </a:avLst>
          </a:prstGeom>
          <a:solidFill>
            <a:srgbClr val="8E5BC0"/>
          </a:solidFill>
          <a:ln/>
        </p:spPr>
      </p:sp>
      <p:sp>
        <p:nvSpPr>
          <p:cNvPr id="33" name="Text 31"/>
          <p:cNvSpPr/>
          <p:nvPr/>
        </p:nvSpPr>
        <p:spPr>
          <a:xfrm>
            <a:off x="9564624" y="1691640"/>
            <a:ext cx="20848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9564624" y="2468880"/>
            <a:ext cx="2084832" cy="2788920"/>
          </a:xfrm>
          <a:prstGeom prst="rect">
            <a:avLst>
              <a:gd name="adj" fmla="val 3509"/>
            </a:avLst>
          </a:prstGeom>
          <a:solidFill>
            <a:srgbClr val="EEF1FA"/>
          </a:solidFill>
          <a:ln/>
          <a:effectLst>
            <a:outerShdw sx="100000" sy="100000" kx="0" ky="0" algn="bl" rotWithShape="0" blurRad="127000" dist="38100" dir="5400000">
              <a:srgbClr val="1B1F3B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701784" y="2606040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Idée clé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9701784" y="2862072"/>
            <a:ext cx="18105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+ weight decay découplé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701784" y="3840480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le tester ici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9701784" y="4096512"/>
            <a:ext cx="18105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Régularisation théoriquement plus propre que L2 classique.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0080" y="5486400"/>
            <a:ext cx="109087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méthodologique : </a:t>
            </a:r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optimiseurs utilisent ici les hyperparamètres par défaut de PyTorch (ex. AdamW avec weight_decay = 0.01 par défaut), sans réglage individuel — seul le taux d'apprentissage (1e-3) est harmonisé.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MÉTHODOLOGIE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Protocole expérimental en deux étapes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fixe (identique pour tous les runs)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65960"/>
          <a:ext cx="55778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24688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Paramètre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Valeur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Couches cachées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× 128 neurones (ReLU)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Replay buffer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10 000 transitions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Taille de mini-lot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Facteur d'actualisation γ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Epsilon (init/min/décroiss.)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 / 0.01 / ×0.995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Mise à jour target network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toutes les 10 épisodes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Taux d'apprentissage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× 10⁻³ (tous optimiseurs)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Épisodes d'entraînement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537960" y="1600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Déroulement de l'évaluation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537960" y="2103120"/>
            <a:ext cx="502920" cy="502920"/>
          </a:xfrm>
          <a:prstGeom prst="ellipse">
            <a:avLst/>
          </a:prstGeom>
          <a:solidFill>
            <a:srgbClr val="E8923C"/>
          </a:solidFill>
          <a:ln/>
        </p:spPr>
      </p:sp>
      <p:sp>
        <p:nvSpPr>
          <p:cNvPr id="8" name="Text 5"/>
          <p:cNvSpPr/>
          <p:nvPr/>
        </p:nvSpPr>
        <p:spPr>
          <a:xfrm>
            <a:off x="653796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789420" y="2606040"/>
            <a:ext cx="0" cy="1005840"/>
          </a:xfrm>
          <a:prstGeom prst="line">
            <a:avLst/>
          </a:prstGeom>
          <a:noFill/>
          <a:ln w="19050">
            <a:solidFill>
              <a:srgbClr val="C7CFEA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7269480" y="2029968"/>
            <a:ext cx="4297680" cy="1188720"/>
          </a:xfrm>
          <a:prstGeom prst="rect">
            <a:avLst>
              <a:gd name="adj" fmla="val 6154"/>
            </a:avLst>
          </a:prstGeom>
          <a:solidFill>
            <a:srgbClr val="EEF1FA"/>
          </a:solidFill>
          <a:ln/>
          <a:effectLst>
            <a:outerShdw sx="100000" sy="100000" kx="0" ky="0" algn="bl" rotWithShape="0" blurRad="127000" dist="38100" dir="5400000">
              <a:srgbClr val="1B1F3B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498080" y="2103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à seed unique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498080" y="2450592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épisodes × 5 optimiseurs — premières courbes d'apprentissage, de perte et de coût de calcul.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537960" y="3611880"/>
            <a:ext cx="502920" cy="502920"/>
          </a:xfrm>
          <a:prstGeom prst="ellipse">
            <a:avLst/>
          </a:prstGeom>
          <a:solidFill>
            <a:srgbClr val="E8923C"/>
          </a:solidFill>
          <a:ln/>
        </p:spPr>
      </p:sp>
      <p:sp>
        <p:nvSpPr>
          <p:cNvPr id="14" name="Text 11"/>
          <p:cNvSpPr/>
          <p:nvPr/>
        </p:nvSpPr>
        <p:spPr>
          <a:xfrm>
            <a:off x="6537960" y="3611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7269480" y="3538728"/>
            <a:ext cx="4297680" cy="1188720"/>
          </a:xfrm>
          <a:prstGeom prst="rect">
            <a:avLst>
              <a:gd name="adj" fmla="val 6154"/>
            </a:avLst>
          </a:prstGeom>
          <a:solidFill>
            <a:srgbClr val="EEF1FA"/>
          </a:solidFill>
          <a:ln/>
          <a:effectLst>
            <a:outerShdw sx="100000" sy="100000" kx="0" ky="0" algn="bl" rotWithShape="0" blurRad="127000" dist="38100" dir="5400000">
              <a:srgbClr val="1B1F3B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498080" y="3611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multi-seed (42, 123, 999)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498080" y="3959352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optimiseur rejoué 3× → moyenne et écart-type par métrique, pour juger de la reproductibilité.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40080" y="608076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15 runs indépendants au total (5 optimiseurs × 3 seeds), sur Kaggle (GPU CUDA), PyTorch + Gymnasium.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RÉSULTATS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Récompense par épisode — les 5 optimiseurs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0352" y="1481328"/>
            <a:ext cx="7443216" cy="3167155"/>
          </a:xfrm>
          <a:prstGeom prst="rect">
            <a:avLst>
              <a:gd name="adj" fmla="val 1155"/>
            </a:avLst>
          </a:prstGeom>
          <a:solidFill>
            <a:srgbClr val="FFFFFF"/>
          </a:solidFill>
          <a:ln w="12700">
            <a:solidFill>
              <a:srgbClr val="E3E8F7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3B">
                <a:alpha val="12000"/>
              </a:srgbClr>
            </a:outerShdw>
          </a:effectLst>
        </p:spPr>
      </p:sp>
      <p:pic>
        <p:nvPicPr>
          <p:cNvPr id="5" name="Image 0" descr="/home/claude/rl_deck/images/fig1_rew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91056"/>
            <a:ext cx="7223760" cy="294769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21040" y="1591056"/>
            <a:ext cx="3227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du graphique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321040" y="2011680"/>
            <a:ext cx="32278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courbes démarrent bas (ε proche de 1) puis progressent avec de fortes fluctuations.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321040" y="2788920"/>
            <a:ext cx="32278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et SGD+Momentum atteignent les pics les plus élevés en fin d'entraînement (jusqu'à 500).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321040" y="3566160"/>
            <a:ext cx="32278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RMSprop, Adam et AdamW restent plus contenus, avec une amplitude plus faible.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RÉSULTATS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Perte d'entraînement (MSE) par épisode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0352" y="1481328"/>
            <a:ext cx="7443216" cy="3420895"/>
          </a:xfrm>
          <a:prstGeom prst="rect">
            <a:avLst>
              <a:gd name="adj" fmla="val 1069"/>
            </a:avLst>
          </a:prstGeom>
          <a:solidFill>
            <a:srgbClr val="FFFFFF"/>
          </a:solidFill>
          <a:ln w="12700">
            <a:solidFill>
              <a:srgbClr val="E3E8F7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3B">
                <a:alpha val="12000"/>
              </a:srgbClr>
            </a:outerShdw>
          </a:effectLst>
        </p:spPr>
      </p:sp>
      <p:pic>
        <p:nvPicPr>
          <p:cNvPr id="5" name="Image 0" descr="/home/claude/rl_deck/images/fig2_l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91056"/>
            <a:ext cx="7223760" cy="32014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21040" y="1591056"/>
            <a:ext cx="3227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du graphique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321040" y="2011680"/>
            <a:ext cx="32278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perte augmente globalement au fil de l'entraînement — normal en RL, la cible évolue elle-même.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321040" y="2788920"/>
            <a:ext cx="32278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montre le pic le plus marqué (épisodes ~100–250, &gt; 3.5).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321040" y="3566160"/>
            <a:ext cx="32278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autres optimiseurs restent plus bas, avec des pics ponctuels tardifs (SGD+Momentum, RMSprop).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RÉSULTATS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Coût de calcul : temps d'entraînement &amp; mémoire GPU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0352" y="1554480"/>
            <a:ext cx="6345936" cy="3803447"/>
          </a:xfrm>
          <a:prstGeom prst="rect">
            <a:avLst>
              <a:gd name="adj" fmla="val 962"/>
            </a:avLst>
          </a:prstGeom>
          <a:solidFill>
            <a:srgbClr val="FFFFFF"/>
          </a:solidFill>
          <a:ln w="12700">
            <a:solidFill>
              <a:srgbClr val="E3E8F7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3B">
                <a:alpha val="12000"/>
              </a:srgbClr>
            </a:outerShdw>
          </a:effectLst>
        </p:spPr>
      </p:sp>
      <p:pic>
        <p:nvPicPr>
          <p:cNvPr id="5" name="Image 0" descr="/home/claude/rl_deck/images/fig3_t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64208"/>
            <a:ext cx="6126480" cy="35839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568239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: temps moyen le plus court (98.4 s)  •  SGD : le plus long (148.1 s)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223760" y="1600200"/>
            <a:ext cx="502920" cy="502920"/>
          </a:xfrm>
          <a:prstGeom prst="ellipse">
            <a:avLst/>
          </a:prstGeom>
          <a:solidFill>
            <a:srgbClr val="3D5A8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4461" y="1720901"/>
            <a:ext cx="261518" cy="26151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863840" y="1645920"/>
            <a:ext cx="3685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Mémoire GPU — écart négligeable</a:t>
            </a:r>
            <a:endParaRPr lang="en-US" sz="13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2240280"/>
          <a:ext cx="432511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0116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Optimiseur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 mémoire (MB)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SGD + Momentum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RMSprop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7223760" y="4709160"/>
            <a:ext cx="43251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1 % d'écart entre SGD et Adam/AdamW : à cette échelle de réseau (~9 000 paramètres), le choix de l'optimiseur n'a pas d'impact mémoire significatif.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RÉSULTATS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Reproductibilité : récompense moyenne sur 3 seeds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30352" y="1481328"/>
            <a:ext cx="7443216" cy="4162779"/>
          </a:xfrm>
          <a:prstGeom prst="rect">
            <a:avLst>
              <a:gd name="adj" fmla="val 879"/>
            </a:avLst>
          </a:prstGeom>
          <a:solidFill>
            <a:srgbClr val="FFFFFF"/>
          </a:solidFill>
          <a:ln w="12700">
            <a:solidFill>
              <a:srgbClr val="E3E8F7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3B">
                <a:alpha val="12000"/>
              </a:srgbClr>
            </a:outerShdw>
          </a:effectLst>
        </p:spPr>
      </p:sp>
      <p:pic>
        <p:nvPicPr>
          <p:cNvPr id="5" name="Image 0" descr="/home/claude/rl_deck/images/fig4_meanrew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91056"/>
            <a:ext cx="7223760" cy="39433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21040" y="1591056"/>
            <a:ext cx="3227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du graphique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321040" y="2011680"/>
            <a:ext cx="32278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: récompense moyenne la plus haute, mais barre d'erreur la plus large (grande variabilité).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321040" y="2788920"/>
            <a:ext cx="32278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: barre d'erreur la plus étroite dans ce protocole — la plus faible variance mesurée entre seeds.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321040" y="3566160"/>
            <a:ext cx="32278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SGD+Momentum et AdamW se situent entre les deux extrêmes.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RÉSULTATS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Synthèse comparative — évaluation multi-seed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08792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920240"/>
                <a:gridCol w="1920240"/>
                <a:gridCol w="1920240"/>
                <a:gridCol w="19202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Optimiseur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Récompense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moyenne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Écart-type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Récompense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finale moy.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Récompense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max. moy.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89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147.31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267.00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89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SGD + Momentum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131.84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10.66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89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354.67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458.33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RMSprop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332.33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395.33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89.39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892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80.67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485.00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112.31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21.90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156.67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453.00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2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34924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E8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ambre : </a:t>
            </a:r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meilleure valeur de la colonne  —  SGD domine en pic, SGD+Momentum en fin de course, Adam affiche la variance la plus faible dans ce protocole.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DISCUSSION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Forces &amp; faiblesses par optimiseur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084832" cy="685800"/>
          </a:xfrm>
          <a:prstGeom prst="rect">
            <a:avLst>
              <a:gd name="adj" fmla="val 10667"/>
            </a:avLst>
          </a:prstGeom>
          <a:solidFill>
            <a:srgbClr val="8C8C8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20848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2084832" cy="3337560"/>
          </a:xfrm>
          <a:prstGeom prst="rect">
            <a:avLst>
              <a:gd name="adj" fmla="val 3509"/>
            </a:avLst>
          </a:prstGeom>
          <a:solidFill>
            <a:srgbClr val="EEF1FA"/>
          </a:solidFill>
          <a:ln/>
          <a:effectLst>
            <a:outerShdw sx="100000" sy="100000" kx="0" ky="0" algn="bl" rotWithShape="0" blurRad="127000" dist="38100" dir="5400000">
              <a:srgbClr val="1B1F3B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69748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044952"/>
            <a:ext cx="181051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Récompense max. la plus haute (500)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38912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" y="4736592"/>
            <a:ext cx="18105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la plus forte (σ = 30.3)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2871216" y="1691640"/>
            <a:ext cx="2084832" cy="685800"/>
          </a:xfrm>
          <a:prstGeom prst="rect">
            <a:avLst>
              <a:gd name="adj" fmla="val 10667"/>
            </a:avLst>
          </a:prstGeom>
          <a:solidFill>
            <a:srgbClr val="E8871E"/>
          </a:solidFill>
          <a:ln/>
        </p:spPr>
      </p:sp>
      <p:sp>
        <p:nvSpPr>
          <p:cNvPr id="12" name="Text 8"/>
          <p:cNvSpPr/>
          <p:nvPr/>
        </p:nvSpPr>
        <p:spPr>
          <a:xfrm>
            <a:off x="2871216" y="1691640"/>
            <a:ext cx="20848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+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2871216" y="2514600"/>
            <a:ext cx="2084832" cy="3337560"/>
          </a:xfrm>
          <a:prstGeom prst="rect">
            <a:avLst>
              <a:gd name="adj" fmla="val 3509"/>
            </a:avLst>
          </a:prstGeom>
          <a:solidFill>
            <a:srgbClr val="EEF1FA"/>
          </a:solidFill>
          <a:ln/>
          <a:effectLst>
            <a:outerShdw sx="100000" sy="100000" kx="0" ky="0" algn="bl" rotWithShape="0" blurRad="127000" dist="38100" dir="5400000">
              <a:srgbClr val="1B1F3B">
                <a:alpha val="12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8376" y="269748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008376" y="3044952"/>
            <a:ext cx="181051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Meilleure récompense finale (354.7)</a:t>
            </a:r>
            <a:endParaRPr lang="en-US" sz="10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08376" y="438912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008376" y="4736592"/>
            <a:ext cx="18105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un taux d'apprentissage global unique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5102352" y="1691640"/>
            <a:ext cx="2084832" cy="685800"/>
          </a:xfrm>
          <a:prstGeom prst="rect">
            <a:avLst>
              <a:gd name="adj" fmla="val 10667"/>
            </a:avLst>
          </a:prstGeom>
          <a:solidFill>
            <a:srgbClr val="2E8B3D"/>
          </a:solidFill>
          <a:ln/>
        </p:spPr>
      </p:sp>
      <p:sp>
        <p:nvSpPr>
          <p:cNvPr id="19" name="Text 13"/>
          <p:cNvSpPr/>
          <p:nvPr/>
        </p:nvSpPr>
        <p:spPr>
          <a:xfrm>
            <a:off x="5102352" y="1691640"/>
            <a:ext cx="20848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RMSprop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5102352" y="2514600"/>
            <a:ext cx="2084832" cy="3337560"/>
          </a:xfrm>
          <a:prstGeom prst="rect">
            <a:avLst>
              <a:gd name="adj" fmla="val 3509"/>
            </a:avLst>
          </a:prstGeom>
          <a:solidFill>
            <a:srgbClr val="EEF1FA"/>
          </a:solidFill>
          <a:ln/>
          <a:effectLst>
            <a:outerShdw sx="100000" sy="100000" kx="0" ky="0" algn="bl" rotWithShape="0" blurRad="127000" dist="38100" dir="5400000">
              <a:srgbClr val="1B1F3B">
                <a:alpha val="12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9512" y="2697480"/>
            <a:ext cx="274320" cy="27432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5239512" y="3044952"/>
            <a:ext cx="181051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 compromis, cible non stationnaire</a:t>
            </a:r>
            <a:endParaRPr lang="en-US" sz="105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9512" y="4389120"/>
            <a:ext cx="274320" cy="27432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5239512" y="4736592"/>
            <a:ext cx="18105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momentum pour lisser le bruit</a:t>
            </a:r>
            <a:endParaRPr lang="en-US" sz="1050" dirty="0"/>
          </a:p>
        </p:txBody>
      </p:sp>
      <p:sp>
        <p:nvSpPr>
          <p:cNvPr id="25" name="Shape 17"/>
          <p:cNvSpPr/>
          <p:nvPr/>
        </p:nvSpPr>
        <p:spPr>
          <a:xfrm>
            <a:off x="7333488" y="1691640"/>
            <a:ext cx="2084832" cy="685800"/>
          </a:xfrm>
          <a:prstGeom prst="rect">
            <a:avLst>
              <a:gd name="adj" fmla="val 10667"/>
            </a:avLst>
          </a:prstGeom>
          <a:solidFill>
            <a:srgbClr val="1F6FB4"/>
          </a:solidFill>
          <a:ln/>
        </p:spPr>
      </p:sp>
      <p:sp>
        <p:nvSpPr>
          <p:cNvPr id="26" name="Text 18"/>
          <p:cNvSpPr/>
          <p:nvPr/>
        </p:nvSpPr>
        <p:spPr>
          <a:xfrm>
            <a:off x="7333488" y="1691640"/>
            <a:ext cx="20848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1400" dirty="0"/>
          </a:p>
        </p:txBody>
      </p:sp>
      <p:sp>
        <p:nvSpPr>
          <p:cNvPr id="27" name="Shape 19"/>
          <p:cNvSpPr/>
          <p:nvPr/>
        </p:nvSpPr>
        <p:spPr>
          <a:xfrm>
            <a:off x="7333488" y="2514600"/>
            <a:ext cx="2084832" cy="3337560"/>
          </a:xfrm>
          <a:prstGeom prst="rect">
            <a:avLst>
              <a:gd name="adj" fmla="val 3509"/>
            </a:avLst>
          </a:prstGeom>
          <a:solidFill>
            <a:srgbClr val="EEF1FA"/>
          </a:solidFill>
          <a:ln/>
          <a:effectLst>
            <a:outerShdw sx="100000" sy="100000" kx="0" ky="0" algn="bl" rotWithShape="0" blurRad="127000" dist="38100" dir="5400000">
              <a:srgbClr val="1B1F3B">
                <a:alpha val="12000"/>
              </a:srgbClr>
            </a:outerShdw>
          </a:effectLst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70648" y="2697480"/>
            <a:ext cx="274320" cy="27432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470648" y="3044952"/>
            <a:ext cx="181051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la plus faible ici (σ = 5.3) &amp; entraînement le plus rapide</a:t>
            </a:r>
            <a:endParaRPr lang="en-US" sz="105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70648" y="4389120"/>
            <a:ext cx="274320" cy="27432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7470648" y="4736592"/>
            <a:ext cx="18105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Récompense finale la plus faible (80.7)</a:t>
            </a:r>
            <a:endParaRPr lang="en-US" sz="1050" dirty="0"/>
          </a:p>
        </p:txBody>
      </p:sp>
      <p:sp>
        <p:nvSpPr>
          <p:cNvPr id="32" name="Shape 22"/>
          <p:cNvSpPr/>
          <p:nvPr/>
        </p:nvSpPr>
        <p:spPr>
          <a:xfrm>
            <a:off x="9564624" y="1691640"/>
            <a:ext cx="2084832" cy="685800"/>
          </a:xfrm>
          <a:prstGeom prst="rect">
            <a:avLst>
              <a:gd name="adj" fmla="val 10667"/>
            </a:avLst>
          </a:prstGeom>
          <a:solidFill>
            <a:srgbClr val="8E5BC0"/>
          </a:solidFill>
          <a:ln/>
        </p:spPr>
      </p:sp>
      <p:sp>
        <p:nvSpPr>
          <p:cNvPr id="33" name="Text 23"/>
          <p:cNvSpPr/>
          <p:nvPr/>
        </p:nvSpPr>
        <p:spPr>
          <a:xfrm>
            <a:off x="9564624" y="1691640"/>
            <a:ext cx="20848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</a:t>
            </a:r>
            <a:endParaRPr lang="en-US" sz="1400" dirty="0"/>
          </a:p>
        </p:txBody>
      </p:sp>
      <p:sp>
        <p:nvSpPr>
          <p:cNvPr id="34" name="Shape 24"/>
          <p:cNvSpPr/>
          <p:nvPr/>
        </p:nvSpPr>
        <p:spPr>
          <a:xfrm>
            <a:off x="9564624" y="2514600"/>
            <a:ext cx="2084832" cy="3337560"/>
          </a:xfrm>
          <a:prstGeom prst="rect">
            <a:avLst>
              <a:gd name="adj" fmla="val 3509"/>
            </a:avLst>
          </a:prstGeom>
          <a:solidFill>
            <a:srgbClr val="EEF1FA"/>
          </a:solidFill>
          <a:ln/>
          <a:effectLst>
            <a:outerShdw sx="100000" sy="100000" kx="0" ky="0" algn="bl" rotWithShape="0" blurRad="127000" dist="38100" dir="5400000">
              <a:srgbClr val="1B1F3B">
                <a:alpha val="12000"/>
              </a:srgbClr>
            </a:outerShdw>
          </a:effectLst>
        </p:spPr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01784" y="2697480"/>
            <a:ext cx="274320" cy="274320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9701784" y="3044952"/>
            <a:ext cx="181051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decay découplé (0.01, valeur par défaut)</a:t>
            </a:r>
            <a:endParaRPr lang="en-US" sz="1050" dirty="0"/>
          </a:p>
        </p:txBody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01784" y="4389120"/>
            <a:ext cx="274320" cy="274320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9701784" y="4736592"/>
            <a:ext cx="18105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d'avantage net mesuré face à Adam ici</a:t>
            </a:r>
            <a:endParaRPr lang="en-US" sz="1050" dirty="0"/>
          </a:p>
        </p:txBody>
      </p:sp>
      <p:sp>
        <p:nvSpPr>
          <p:cNvPr id="39" name="Text 27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DISCUSSION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compromis central : performance vs stabilité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371600" y="1783080"/>
            <a:ext cx="7315200" cy="3749040"/>
          </a:xfrm>
          <a:prstGeom prst="rect">
            <a:avLst>
              <a:gd name="adj" fmla="val 976"/>
            </a:avLst>
          </a:prstGeom>
          <a:solidFill>
            <a:srgbClr val="EEF1FA"/>
          </a:solidFill>
          <a:ln w="12700">
            <a:solidFill>
              <a:srgbClr val="DDE2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5532120"/>
            <a:ext cx="7315200" cy="0"/>
          </a:xfrm>
          <a:prstGeom prst="line">
            <a:avLst/>
          </a:prstGeom>
          <a:noFill/>
          <a:ln w="19050">
            <a:solidFill>
              <a:srgbClr val="1B1F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1783080"/>
            <a:ext cx="0" cy="3749040"/>
          </a:xfrm>
          <a:prstGeom prst="line">
            <a:avLst/>
          </a:prstGeom>
          <a:noFill/>
          <a:ln w="19050">
            <a:solidFill>
              <a:srgbClr val="1B1F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56052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Instabilité (écart-type de la récompense) →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 rot="16200000">
            <a:off x="73152" y="352044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moyenne ↑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698710" y="2073914"/>
            <a:ext cx="384048" cy="384048"/>
          </a:xfrm>
          <a:prstGeom prst="ellipse">
            <a:avLst/>
          </a:prstGeom>
          <a:solidFill>
            <a:srgbClr val="8C8C8C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3B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204934" y="248539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3106" y="2772681"/>
            <a:ext cx="384048" cy="384048"/>
          </a:xfrm>
          <a:prstGeom prst="ellipse">
            <a:avLst/>
          </a:prstGeom>
          <a:solidFill>
            <a:srgbClr val="E8871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3B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979330" y="3184161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SGD+Mom.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27171" y="4414128"/>
            <a:ext cx="384048" cy="384048"/>
          </a:xfrm>
          <a:prstGeom prst="ellipse">
            <a:avLst/>
          </a:prstGeom>
          <a:solidFill>
            <a:srgbClr val="2E8B3D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3B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33395" y="48256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RMSprop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11280" y="4690112"/>
            <a:ext cx="384048" cy="384048"/>
          </a:xfrm>
          <a:prstGeom prst="ellipse">
            <a:avLst/>
          </a:prstGeom>
          <a:solidFill>
            <a:srgbClr val="1F6FB4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3B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817504" y="510159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891425" y="3654835"/>
            <a:ext cx="384048" cy="384048"/>
          </a:xfrm>
          <a:prstGeom prst="ellipse">
            <a:avLst/>
          </a:prstGeom>
          <a:solidFill>
            <a:srgbClr val="8E5BC0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0" dist="38100" dir="5400000">
              <a:srgbClr val="1B1F3B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97649" y="4066315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463040" y="185623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Idéal : haute performance,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 variance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463040" y="4846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faible ici,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performant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052560" y="1965960"/>
            <a:ext cx="2496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cela signifie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052560" y="2377440"/>
            <a:ext cx="2496312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optimiseur n'occupe le coin "idéal" (haute performance + faible variance).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compromis explicite s'impose entre pic de performance et reproductibilité.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recommandations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908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optimiseur ne domine sur tous les critères : le choix doit dépendre de la priorité — performance brute ou reproductibilité.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271516" cy="3063240"/>
          </a:xfrm>
          <a:prstGeom prst="rect">
            <a:avLst>
              <a:gd name="adj" fmla="val 2687"/>
            </a:avLst>
          </a:prstGeom>
          <a:solidFill>
            <a:srgbClr val="1B1F3B"/>
          </a:solidFill>
          <a:ln/>
          <a:effectLst>
            <a:outerShdw sx="100000" sy="100000" kx="0" ky="0" algn="bl" rotWithShape="0" blurRad="127000" dist="38100" dir="5400000">
              <a:srgbClr val="1B1F3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377440"/>
            <a:ext cx="594360" cy="594360"/>
          </a:xfrm>
          <a:prstGeom prst="ellipse">
            <a:avLst/>
          </a:prstGeom>
          <a:solidFill>
            <a:srgbClr val="E8923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7046" y="2520086"/>
            <a:ext cx="309067" cy="30906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395728"/>
            <a:ext cx="40827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: performance de pointe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3108960"/>
            <a:ext cx="472287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6D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avec Momentum offre le meilleur équilibre entre récompense finale élevée (354.7) et variance modérée (σ = 10.7) — recommandé si plusieurs runs peuvent être lancés pour compenser la variabilité.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77356" y="2148840"/>
            <a:ext cx="5271516" cy="3063240"/>
          </a:xfrm>
          <a:prstGeom prst="rect">
            <a:avLst>
              <a:gd name="adj" fmla="val 2687"/>
            </a:avLst>
          </a:prstGeom>
          <a:solidFill>
            <a:srgbClr val="3D5A80"/>
          </a:solidFill>
          <a:ln/>
          <a:effectLst>
            <a:outerShdw sx="100000" sy="100000" kx="0" ky="0" algn="bl" rotWithShape="0" blurRad="127000" dist="38100" dir="5400000">
              <a:srgbClr val="1B1F3B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551676" y="2377440"/>
            <a:ext cx="594360" cy="594360"/>
          </a:xfrm>
          <a:prstGeom prst="ellipse">
            <a:avLst/>
          </a:prstGeom>
          <a:solidFill>
            <a:srgbClr val="1B1F3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322" y="2520086"/>
            <a:ext cx="309067" cy="30906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83196" y="2395728"/>
            <a:ext cx="40827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: stabilité &amp; reproductibilité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551676" y="3108960"/>
            <a:ext cx="4722876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3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(ou AdamW) est préférable en ressources limitées : la variance la plus faible observée ici (σ = 5.3) et le temps d'entraînement le plus court suggèrent des résultats plus prévisibles d'un seed à l'autre.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40080" y="5349240"/>
            <a:ext cx="109087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retenir : </a:t>
            </a:r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variabilité inter-seed est souvent plus déterminante que le choix de l'optimiseur lui-même — une évaluation multi-seed est indispensable en RL.</a:t>
            </a:r>
            <a:pPr indent="0" marL="0">
              <a:lnSpc>
                <a:spcPct val="125000"/>
              </a:lnSpc>
              <a:buNone/>
            </a:pPr>
            <a:r>
              <a:rPr lang="en-US" sz="1200" b="1" i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Portée : </a:t>
            </a:r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conclusions restent limitées au protocole étudié (CartPole-v1, 500 épisodes, 3 seeds, taux d'apprentissage unique).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de l'étude &amp; perspectives futures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actuelles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212080" cy="530352"/>
          </a:xfrm>
          <a:prstGeom prst="rect">
            <a:avLst>
              <a:gd name="adj" fmla="val 10345"/>
            </a:avLst>
          </a:prstGeom>
          <a:solidFill>
            <a:srgbClr val="EEF1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76272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2057400"/>
            <a:ext cx="4526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Seulement 3 seeds — échantillon statistique restreint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2715768"/>
            <a:ext cx="5212080" cy="530352"/>
          </a:xfrm>
          <a:prstGeom prst="rect">
            <a:avLst>
              <a:gd name="adj" fmla="val 10345"/>
            </a:avLst>
          </a:prstGeom>
          <a:solidFill>
            <a:srgbClr val="EEF1F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834640"/>
            <a:ext cx="292608" cy="29260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88720" y="2715768"/>
            <a:ext cx="4526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taux d'apprentissage testé, sans réglage par optimiseur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40080" y="3374136"/>
            <a:ext cx="5212080" cy="530352"/>
          </a:xfrm>
          <a:prstGeom prst="rect">
            <a:avLst>
              <a:gd name="adj" fmla="val 10345"/>
            </a:avLst>
          </a:prstGeom>
          <a:solidFill>
            <a:srgbClr val="EEF1FA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493008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3374136"/>
            <a:ext cx="4526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environnement simple (CartPole) et un réseau peu profond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640080" y="4032504"/>
            <a:ext cx="5212080" cy="530352"/>
          </a:xfrm>
          <a:prstGeom prst="rect">
            <a:avLst>
              <a:gd name="adj" fmla="val 10345"/>
            </a:avLst>
          </a:prstGeom>
          <a:solidFill>
            <a:srgbClr val="EEF1FA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151376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88720" y="4032504"/>
            <a:ext cx="45262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épisodes seulement : convergence pas toujours atteinte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6309360" y="1600200"/>
            <a:ext cx="5239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futures</a:t>
            </a:r>
            <a:endParaRPr lang="en-US" sz="1400" dirty="0"/>
          </a:p>
        </p:txBody>
      </p:sp>
      <p:sp>
        <p:nvSpPr>
          <p:cNvPr id="18" name="Shape 12"/>
          <p:cNvSpPr/>
          <p:nvPr/>
        </p:nvSpPr>
        <p:spPr>
          <a:xfrm>
            <a:off x="6309360" y="2057400"/>
            <a:ext cx="5239512" cy="530352"/>
          </a:xfrm>
          <a:prstGeom prst="rect">
            <a:avLst>
              <a:gd name="adj" fmla="val 10345"/>
            </a:avLst>
          </a:prstGeom>
          <a:solidFill>
            <a:srgbClr val="EAF3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2176272"/>
            <a:ext cx="292608" cy="29260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858000" y="2057400"/>
            <a:ext cx="45537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Davantage de seeds pour une estimation robuste de la variance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6309360" y="2715768"/>
            <a:ext cx="5239512" cy="530352"/>
          </a:xfrm>
          <a:prstGeom prst="rect">
            <a:avLst>
              <a:gd name="adj" fmla="val 10345"/>
            </a:avLst>
          </a:prstGeom>
          <a:solidFill>
            <a:srgbClr val="EAF3EC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2834640"/>
            <a:ext cx="292608" cy="29260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858000" y="2715768"/>
            <a:ext cx="45537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d'apprentissage propre à chaque optimiseur</a:t>
            </a:r>
            <a:endParaRPr lang="en-US" sz="1150" dirty="0"/>
          </a:p>
        </p:txBody>
      </p:sp>
      <p:sp>
        <p:nvSpPr>
          <p:cNvPr id="24" name="Shape 16"/>
          <p:cNvSpPr/>
          <p:nvPr/>
        </p:nvSpPr>
        <p:spPr>
          <a:xfrm>
            <a:off x="6309360" y="3374136"/>
            <a:ext cx="5239512" cy="530352"/>
          </a:xfrm>
          <a:prstGeom prst="rect">
            <a:avLst>
              <a:gd name="adj" fmla="val 10345"/>
            </a:avLst>
          </a:prstGeom>
          <a:solidFill>
            <a:srgbClr val="EAF3EC"/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46520" y="3493008"/>
            <a:ext cx="292608" cy="29260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858000" y="3374136"/>
            <a:ext cx="45537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Environnements plus complexes &amp; algorithmes avancés (Double DQN, Actor-Critic)</a:t>
            </a:r>
            <a:endParaRPr lang="en-US" sz="1150" dirty="0"/>
          </a:p>
        </p:txBody>
      </p:sp>
      <p:sp>
        <p:nvSpPr>
          <p:cNvPr id="27" name="Shape 18"/>
          <p:cNvSpPr/>
          <p:nvPr/>
        </p:nvSpPr>
        <p:spPr>
          <a:xfrm>
            <a:off x="6309360" y="4032504"/>
            <a:ext cx="5239512" cy="530352"/>
          </a:xfrm>
          <a:prstGeom prst="rect">
            <a:avLst>
              <a:gd name="adj" fmla="val 10345"/>
            </a:avLst>
          </a:prstGeom>
          <a:solidFill>
            <a:srgbClr val="EAF3EC"/>
          </a:solidFill>
          <a:ln/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520" y="4151376"/>
            <a:ext cx="292608" cy="292608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6858000" y="4032504"/>
            <a:ext cx="455371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Entraînements plus longs pour vérifier la persistance de l'instabilité tardive</a:t>
            </a:r>
            <a:endParaRPr lang="en-US" sz="1150" dirty="0"/>
          </a:p>
        </p:txBody>
      </p:sp>
      <p:sp>
        <p:nvSpPr>
          <p:cNvPr id="30" name="Text 20"/>
          <p:cNvSpPr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B1F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840480"/>
            <a:ext cx="5486400" cy="5486400"/>
          </a:xfrm>
          <a:prstGeom prst="ellipse">
            <a:avLst/>
          </a:prstGeom>
          <a:solidFill>
            <a:srgbClr val="262C52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2377440"/>
            <a:ext cx="4572000" cy="4572000"/>
          </a:xfrm>
          <a:prstGeom prst="ellipse">
            <a:avLst/>
          </a:prstGeom>
          <a:solidFill>
            <a:srgbClr val="3D5A8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4884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97180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977640"/>
            <a:ext cx="502920" cy="502920"/>
          </a:xfrm>
          <a:prstGeom prst="ellipse">
            <a:avLst/>
          </a:prstGeom>
          <a:solidFill>
            <a:srgbClr val="262C5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4098341"/>
            <a:ext cx="261518" cy="26151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3977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source 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github.com/Hafsa58/rl-optimizer-comparison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4572000"/>
            <a:ext cx="502920" cy="502920"/>
          </a:xfrm>
          <a:prstGeom prst="ellipse">
            <a:avLst/>
          </a:prstGeom>
          <a:solidFill>
            <a:srgbClr val="262C5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81" y="469270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45720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Kaggle :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kaggle.com/code/hafsa991/optimisation-f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640080" y="60350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Hafsa Elhilali · Jihed El Betti · Amina Bouazza  —  Master IA (DSBD &amp; IA), FSBM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Optimisation des agents de Reinforcement Learning</dc:title>
  <dc:subject>PptxGenJS Presentation</dc:subject>
  <dc:creator>Hafsa Elhilali, Jihed El Betti, Amina Bouazza</dc:creator>
  <cp:lastModifiedBy>Hafsa Elhilali, Jihed El Betti, Amina Bouazza</cp:lastModifiedBy>
  <cp:revision>1</cp:revision>
  <dcterms:created xsi:type="dcterms:W3CDTF">2026-07-05T01:32:44Z</dcterms:created>
  <dcterms:modified xsi:type="dcterms:W3CDTF">2026-07-05T01:32:44Z</dcterms:modified>
</cp:coreProperties>
</file>